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6858000" cy="9144000"/>
  <p:embeddedFontLst>
    <p:embeddedFont>
      <p:font typeface="Inter SemiBold"/>
      <p:regular r:id="rId25"/>
      <p:bold r:id="rId26"/>
      <p:italic r:id="rId27"/>
      <p:boldItalic r:id="rId28"/>
    </p:embeddedFont>
    <p:embeddedFont>
      <p:font typeface="Inter"/>
      <p:regular r:id="rId29"/>
      <p:bold r:id="rId30"/>
      <p:italic r:id="rId31"/>
      <p:boldItalic r:id="rId32"/>
    </p:embeddedFont>
    <p:embeddedFont>
      <p:font typeface="Inter Medium"/>
      <p:regular r:id="rId33"/>
      <p:bold r:id="rId34"/>
      <p:italic r:id="rId35"/>
      <p:boldItalic r:id="rId36"/>
    </p:embeddedFont>
    <p:embeddedFont>
      <p:font typeface="JetBrains Mono"/>
      <p:regular r:id="rId37"/>
      <p:bold r:id="rId38"/>
      <p:italic r:id="rId39"/>
      <p:boldItalic r:id="rId40"/>
    </p:embeddedFont>
    <p:embeddedFont>
      <p:font typeface="Space Grotesk"/>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BB202F-F7FE-407C-8C67-CBE91F6272E4}">
  <a:tblStyle styleId="{6DBB202F-F7FE-407C-8C67-CBE91F6272E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font" Target="fonts/InterSemiBold-regular.fntdata"/><Relationship Id="rId26" Type="http://schemas.openxmlformats.org/officeDocument/2006/relationships/font" Target="fonts/InterSemiBold-bold.fntdata"/><Relationship Id="rId27" Type="http://schemas.openxmlformats.org/officeDocument/2006/relationships/font" Target="fonts/InterSemiBold-italic.fntdata"/><Relationship Id="rId28" Type="http://schemas.openxmlformats.org/officeDocument/2006/relationships/font" Target="fonts/InterSemiBold-boldItalic.fntdata"/><Relationship Id="rId29" Type="http://schemas.openxmlformats.org/officeDocument/2006/relationships/font" Target="fonts/Inter-regular.fntdata"/><Relationship Id="rId30" Type="http://schemas.openxmlformats.org/officeDocument/2006/relationships/font" Target="fonts/Inter-bold.fntdata"/><Relationship Id="rId31" Type="http://schemas.openxmlformats.org/officeDocument/2006/relationships/font" Target="fonts/Inter-italic.fntdata"/><Relationship Id="rId32" Type="http://schemas.openxmlformats.org/officeDocument/2006/relationships/font" Target="fonts/Inter-boldItalic.fntdata"/><Relationship Id="rId33" Type="http://schemas.openxmlformats.org/officeDocument/2006/relationships/font" Target="fonts/InterMedium-regular.fntdata"/><Relationship Id="rId34" Type="http://schemas.openxmlformats.org/officeDocument/2006/relationships/font" Target="fonts/InterMedium-bold.fntdata"/><Relationship Id="rId35" Type="http://schemas.openxmlformats.org/officeDocument/2006/relationships/font" Target="fonts/InterMedium-italic.fntdata"/><Relationship Id="rId36" Type="http://schemas.openxmlformats.org/officeDocument/2006/relationships/font" Target="fonts/InterMedium-boldItalic.fntdata"/><Relationship Id="rId37" Type="http://schemas.openxmlformats.org/officeDocument/2006/relationships/font" Target="fonts/JetBrainsMono-regular.fntdata"/><Relationship Id="rId38" Type="http://schemas.openxmlformats.org/officeDocument/2006/relationships/font" Target="fonts/JetBrainsMono-bold.fntdata"/><Relationship Id="rId39" Type="http://schemas.openxmlformats.org/officeDocument/2006/relationships/font" Target="fonts/JetBrainsMono-italic.fntdata"/><Relationship Id="rId40" Type="http://schemas.openxmlformats.org/officeDocument/2006/relationships/font" Target="fonts/JetBrainsMono-boldItalic.fntdata"/><Relationship Id="rId41" Type="http://schemas.openxmlformats.org/officeDocument/2006/relationships/font" Target="fonts/SpaceGrotesk-regular.fntdata"/><Relationship Id="rId42" Type="http://schemas.openxmlformats.org/officeDocument/2006/relationships/font" Target="fonts/SpaceGrotes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(00:00–02:00 | Setting the Stage):</a:t>
            </a:r>
          </a:p>
          <a:p>
            <a:r>
              <a:t>"Good afternoon, executive leadership, production partners, and colleagues. Thank you for taking the time today to review our technical proposal for automating labor compliance across British Columbia film and television sets.</a:t>
            </a:r>
          </a:p>
          <a:p/>
          <a:p>
            <a:r>
              <a:t>One thing you should know about me is my deep passion for film—whether it is analyzing cinema or helping on friends' independent sets. Film is one of the rare mediums that unites diverse creative and technical talents. But behind the camera, film crews work grueling 12-to-16-hour days, and production accounting teams face immense regulatory complexity. Across North America, and particularly in British Columbia—the third largest film production hub on the continent with over $4 billion in annual spend—labour compliance disputes and union strikes frequently make headlines because crew members are not compensated accurately or rest intervals are infringed.</a:t>
            </a:r>
          </a:p>
          <a:p/>
          <a:p>
            <a:r>
              <a:t>To solve this systemic challenge, we engineered an autonomous, edge-deployable AI Compliance Engine. By pairing Parameter-Efficient Fine-Tuning (LoRA) on a compact 0.5B open-source LLM with LangGraph stateful orchestration and grounded Retrieval-Augmented Generation (RAG) over active 2025–2028 collective bargaining agreements, our engine eliminates multi-union payroll liabilities before wrap.</a:t>
            </a:r>
          </a:p>
          <a:p/>
          <a:p>
            <a:r>
              <a:t>Over the next 30 minutes, we will walk through:</a:t>
            </a:r>
          </a:p>
          <a:p>
            <a:r>
              <a:t>1. The business problem, target personas, and compounding penalty liabilities.</a:t>
            </a:r>
          </a:p>
          <a:p>
            <a:r>
              <a:t>2. The legal knowledge base ingestion and our anti-leakage data engineering protocol.</a:t>
            </a:r>
          </a:p>
          <a:p>
            <a:r>
              <a:t>3. LoRA fine-tuning methodology and empirical convergence evidence.</a:t>
            </a:r>
          </a:p>
          <a:p>
            <a:r>
              <a:t>4. LangGraph execution pipeline with retrieval guardrails.</a:t>
            </a:r>
          </a:p>
          <a:p>
            <a:r>
              <a:t>5. Dual-benchmark evaluation comparing base, fine-tuned, and open-source models.</a:t>
            </a:r>
          </a:p>
          <a:p>
            <a:r>
              <a:t>6. Diagnostics of failure modes, context management, and token budgeting.</a:t>
            </a:r>
          </a:p>
          <a:p>
            <a:r>
              <a:t>7. Local CPU vs. cloud GPU infrastructure trade-offs and economics.</a:t>
            </a:r>
          </a:p>
          <a:p>
            <a:r>
              <a:t>8. Live interactive demonstration and our enterprise production roadmap.</a:t>
            </a:r>
          </a:p>
          <a:p/>
          <a:p>
            <a:r>
              <a:t>All code, data pipelines, fine-tuning scripts, and evaluation harnesses are open-source and live at the GitHub repository linked on this slide (https://github.com/MarcosGerges/BC-Film-Labour-Compliance-Assistant). File references throughout the slides correspond directly to modules in the repo. Let's examine the core business problem."</a:t>
            </a: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(02:00–05:00 | Business Problem &amp; Target Personas):</a:t>
            </a:r>
          </a:p>
          <a:p>
            <a:r>
              <a:t>"Let's ground this technical solution in the real-world operational problem. On any given film set in British Columbia, production payroll is a jurisdictional labyrinth. Four distinct collective bargaining frameworks govern crew members concurrently:</a:t>
            </a:r>
          </a:p>
          <a:p>
            <a:r>
              <a:t>1. BCCFU Master Agreement, covering IATSE 891 technicians and Teamsters Local 155 drivers.</a:t>
            </a:r>
          </a:p>
          <a:p>
            <a:r>
              <a:t>2. Directors Guild of Canada (DGC BC), governing 1st and 2nd Assistant Directors and Production Managers.</a:t>
            </a:r>
          </a:p>
          <a:p>
            <a:r>
              <a:t>3. UBCP/ACTRA BCMPA, protecting principal performers, stunt performers, and background actors.</a:t>
            </a:r>
          </a:p>
          <a:p>
            <a:r>
              <a:t>4. BC Employment Standards Act (ESA), establishing statutory minimum floors.</a:t>
            </a:r>
          </a:p>
          <a:p/>
          <a:p>
            <a:r>
              <a:t>This complexity directly impacts four critical personas:</a:t>
            </a:r>
          </a:p>
          <a:p>
            <a:r>
              <a:t>- Production Accountants, who bear ultimate responsibility for multimillion-dollar episodic budgets and union reconciliations.</a:t>
            </a:r>
          </a:p>
          <a:p>
            <a:r>
              <a:t>- 1st and 2nd Assistant Directors, who manage call sheets, meal calls, and wrap times under intense shooting pressures on set.</a:t>
            </a:r>
          </a:p>
          <a:p>
            <a:r>
              <a:t>- Union Stewards, who audit sets and file grievances when worker safety or rest is compromised.</a:t>
            </a:r>
          </a:p>
          <a:p>
            <a:r>
              <a:t>- Payroll Coordinators at Entertainment Partners (EP) and Greenslate, who manually audit thousands of timecards days or weeks after wrap.</a:t>
            </a:r>
          </a:p>
          <a:p/>
          <a:p>
            <a:r>
              <a:t>Why does this matter financially? Under these collective agreements, turnaround rest rules diverge completely: 8 hours for drivers, 9 hours for ADs, 10 hours for technicians, and 11 hours for performers. Base scale wages range from $45 to over $115 per hour. When a director pushes an evening shoot and encroaches on turnaround rest, or calls meal breaks past the 6-hour window, union penalties do not bill at regular scale—they compound at 2x and 3x penalty rates. A single unaddressed 2-hour turnaround encroachment across a 40-person lighting and camera department can trigger over $10,000 in union penalty liabilities in a single night.</a:t>
            </a:r>
          </a:p>
          <a:p/>
          <a:p>
            <a:r>
              <a:t>Currently, accounting audits happen retroactively weeks after wrap. Our solution shifts this from retrospective crisis management to real-time autonomous verification right at camera wrap."</a:t>
            </a: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(05:00–07:30 | Why Both SFT and RAG Are Essential):</a:t>
            </a:r>
          </a:p>
          <a:p>
            <a:r>
              <a:t>"A common question when approaching this problem is: 'Why not simply use an off-the-shelf commercial LLM with basic prompt engineering?'</a:t>
            </a:r>
          </a:p>
          <a:p/>
          <a:p>
            <a:r>
              <a:t>On edge devices, general-purpose sub-1B base models fail catastrophically when prompted with unstructured instructions. They emit conversational filler, hallucinate union rules, and fail to generate valid, machine-parsable JSON. Stuffing prompt context with 800+ pages of legal agreements causes severe 'prompt bloat'—exhausting the context window, inflating latency from milliseconds to 30 seconds, and triggering attention degradation.</a:t>
            </a:r>
          </a:p>
          <a:p/>
          <a:p>
            <a:r>
              <a:t>To build an enterprise-grade system, we established a strict division of labor between Supervised Fine-Tuning (SFT) and Retrieval-Augmented Generation (RAG):</a:t>
            </a:r>
          </a:p>
          <a:p/>
          <a:p>
            <a:r>
              <a:t>Supervised Fine-Tuning (The Engine):</a:t>
            </a:r>
          </a:p>
          <a:p>
            <a:r>
              <a:t>- Schema Conformance: Imprints rigid, deterministic JSON formatting directly into the model weights, guaranteeing zero markdown fences (```json) and 100% key-value schema consistency.</a:t>
            </a:r>
          </a:p>
          <a:p>
            <a:r>
              <a:t>- Jurisdiction Logic: Memorizes the exact mapping between film crew roles (e.g., Gaffer -&gt; BCCFU IATSE 891; 1st AD -&gt; DGC; Performer -&gt; UBCP) and their baseline threshold equations.</a:t>
            </a:r>
          </a:p>
          <a:p>
            <a:r>
              <a:t>- Mathematical Calculation: Internalizes arithmetic delta calculations for meal delay hours and turnaround rest deficits without prompt-stuffing.</a:t>
            </a:r>
          </a:p>
          <a:p/>
          <a:p>
            <a:r>
              <a:t>Retrieval-Augmented Generation (The Evidence Layer):</a:t>
            </a:r>
          </a:p>
          <a:p>
            <a:r>
              <a:t>- Verifiable Legal Grounding: Queries a local vector database to pull verbatim text excerpts from ratified agreements.</a:t>
            </a:r>
          </a:p>
          <a:p>
            <a:r>
              <a:t>- Audit Provenance: Cites exact contract Article numbers, section titles, and page citations, making every audit finding legally defendable before a union business agent.</a:t>
            </a:r>
          </a:p>
          <a:p>
            <a:r>
              <a:t>- Modularity: Allows updating contracts, side letters, and wage scales annually simply by re-indexing ChromaDB, without needing model re-training."</a:t>
            </a:r>
          </a:p>
        </p:txBody>
      </p:sp>
      <p:sp>
        <p:nvSpPr>
          <p:cNvPr id="108" name="Google Shape;108;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(07:30–10:00 | Corpus &amp; Document Ingestion):</a:t>
            </a:r>
          </a:p>
          <a:p>
            <a:r>
              <a:t>"Our knowledge base is not scraped from generic internet blogs. We ingested the actual ratified primary legal documents governing film production across British Columbia, representing &gt;95% of all unionized film labor in the province.</a:t>
            </a:r>
          </a:p>
          <a:p/>
          <a:p>
            <a:r>
              <a:t>These six legal sources comprise:</a:t>
            </a:r>
          </a:p>
          <a:p>
            <a:r>
              <a:t>1. BCCFU Master Agreement: The core collective agreement for IATSE Local 891 (camera, grip, lighting, costume, art) and Teamsters Local 155 (transportation and catering).</a:t>
            </a:r>
          </a:p>
          <a:p>
            <a:r>
              <a:t>2. DGC BC Collective Agreement: Covering Directors, Unit Managers, and 1st/2nd Assistant Directors.</a:t>
            </a:r>
          </a:p>
          <a:p>
            <a:r>
              <a:t>3. UBCP/ACTRA BCMPA (BC Master Production Agreement): Governing principal actors, background performers, and stunt coordinators.</a:t>
            </a:r>
          </a:p>
          <a:p>
            <a:r>
              <a:t>4. BC Employment Standards Act (ESA) &amp; Regulation: Providing statutory baselines, young worker rules, and statutory holidays.</a:t>
            </a:r>
          </a:p>
          <a:p>
            <a:r>
              <a:t>5. Actsafe Safety Primers: Establishing mandatory health, rest, and fatigue mitigation guidelines.</a:t>
            </a:r>
          </a:p>
          <a:p/>
          <a:p>
            <a:r>
              <a:t>Corpus Engineering (build_vectorstore.py):</a:t>
            </a:r>
          </a:p>
          <a:p>
            <a:r>
              <a:t>- Total Scale: 817 dense legal pages and 1.82 million characters.</a:t>
            </a:r>
          </a:p>
          <a:p>
            <a:r>
              <a:t>- Ingestion Pipeline: We extracted text using PyPDF, stripped repetitive running headers and footers, and implemented recursive character chunking with an 850-character window (~200 tokens) and a 150-character sliding overlap (~50 tokens). This overlap is critical: legal clauses often end with conditional exceptions ('Provided however that in exterior location shoots...'), and sliding overlap guarantees exception sub-clauses are never severed from their governing article.</a:t>
            </a:r>
          </a:p>
          <a:p>
            <a:r>
              <a:t>- Embeddings &amp; Vector DB: Embedded using all-MiniLM-L6-v2 (384-dimensional dense vectors) into a local ChromaDB collection using cosine similarity metric.</a:t>
            </a:r>
          </a:p>
          <a:p>
            <a:r>
              <a:t>- Metadata Schema: Every chunk carries structured metadata tags: CBA identifier, article title, clause number, and source page number.</a:t>
            </a:r>
          </a:p>
          <a:p/>
          <a:p>
            <a:r>
              <a:t>Quality and Limitations:</a:t>
            </a:r>
          </a:p>
          <a:p>
            <a:r>
              <a:t>Legal contracts present unique challenges. UBCP/ACTRA was recently ratified on May 4, 2025, introducing grandfathering provisions. Furthermore, legal text relies on cross-referential language ('Subject to Article A14.02, except as provided in Schedule A'). Semantic vector retrieval bridges these syntactic jumps where keyword BM25 searches fail."</a:t>
            </a:r>
          </a:p>
        </p:txBody>
      </p:sp>
      <p:sp>
        <p:nvSpPr>
          <p:cNvPr id="134" name="Google Shape;13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(10:00–12:30 | Dataset Engineering &amp; Anti-Leakage Protocol):</a:t>
            </a:r>
          </a:p>
          <a:p>
            <a:r>
              <a:t>"In supervised fine-tuning, dataset rigor determines real-world reliability. Synthetic datasets often suffer from three fatal flaws: repetitive prompt patterns, biased label distributions, and data leakage between train and test splits.</a:t>
            </a:r>
          </a:p>
          <a:p/>
          <a:p>
            <a:r>
              <a:t>Here is how we addressed each in generate_scenarios.py:</a:t>
            </a:r>
          </a:p>
          <a:p>
            <a:r>
              <a:t>1. Strict 80/20 Split: We generated 500 ground-truth audit scenarios, partitioned into 400 training samples and 100 held-out evaluation samples using a fixed random seed (seed 42).</a:t>
            </a:r>
          </a:p>
          <a:p>
            <a:r>
              <a:t>2. Anti-Leakage via Parameter Perturbation: If an evaluation timecard shares identical numbers with a training example (e.g., both testing an 8.0-hour call with lunch at 14.0h), the model can simply memorize the output string. To eliminate leakage, we implemented continuous parameter perturbation: call times, wrap times, meal intervals, and rest durations are sampled from continuous floating-point distributions with Gaussian noise. As a result, the held-out test set shares zero numerical combinations with training data. The model cannot memorize static outputs—it is forced to learn relational arithmetic deltas.</a:t>
            </a:r>
          </a:p>
          <a:p>
            <a:r>
              <a:t>3. Prompt Morphology Diversity: We trained on three distinct input formats:</a:t>
            </a:r>
          </a:p>
          <a:p>
            <a:r>
              <a:t>   - Structured timecards: Tabular call, meal, and wrap timestamps.</a:t>
            </a:r>
          </a:p>
          <a:p>
            <a:r>
              <a:t>   - Set supervisor notes: Conversational queries ('Hey, our grip worked from 06:00 to 20:30 with lunch at 13:00, are we compliant?').</a:t>
            </a:r>
          </a:p>
          <a:p>
            <a:r>
              <a:t>   - Production wrap reports: Daily call sheet summaries.</a:t>
            </a:r>
          </a:p>
          <a:p>
            <a:r>
              <a:t>4. Balanced Labels: The dataset maintains a 50/50 balance between fully compliant shifts and multi-violation shifts, preventing the model from developing an uncritical bias toward flagging every shift."</a:t>
            </a:r>
          </a:p>
        </p:txBody>
      </p:sp>
      <p:sp>
        <p:nvSpPr>
          <p:cNvPr id="156" name="Google Shape;156;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(12:30–15:00 | Technical Setup &amp; Hyperparameter Decisions):</a:t>
            </a:r>
          </a:p>
          <a:p>
            <a:r>
              <a:t>"Let's explore our model selection and fine-tuning methodology.</a:t>
            </a:r>
          </a:p>
          <a:p/>
          <a:p>
            <a:r>
              <a:t>Model Choice:</a:t>
            </a:r>
          </a:p>
          <a:p>
            <a:r>
              <a:t>We selected Alibaba's Qwen2.5-0.5B-Instruct (494M parameters). In production film environments, internet access on remote location shoots is unreliable, and cloud API subscriptions incur ongoing costs and privacy concerns. Qwen2.5-0.5B provides state-of-the-art token efficiency, native ChatML formatting, and edge deployability on commodity Mac CPU hardware without requiring dedicated GPU infrastructure.</a:t>
            </a:r>
          </a:p>
          <a:p/>
          <a:p>
            <a:r>
              <a:t>Technical Decisions &amp; Hyperparameters:</a:t>
            </a:r>
          </a:p>
          <a:p>
            <a:r>
              <a:t>- LoRA Target Modules: Rather than fine-tuning all linear projection weights (~4.8M parameters), we selectively targeted the Query (q_proj) and Value (v_proj) attention projections. This adapts exactly 1,081,344 parameters—only 0.218% of the total model weights—freezing 99.78% of the base network.</a:t>
            </a:r>
          </a:p>
          <a:p>
            <a:r>
              <a:t>- Rank &amp; Scaling Factor: We configured LoRA rank r=16 with scaling factor alpha=32 (alpha/r = 2.0). As established in foundation literature by Hu et al. (2021) and Aghajanyan et al. (2020), domain format adaptation and relational arithmetic have a low intrinsic dimensionality. Rank 16 provides ample parameter capacity to learn conditional penalty logic while preventing rank collapse and overfitting on CPU.</a:t>
            </a:r>
          </a:p>
          <a:p>
            <a:r>
              <a:t>- Optimization Settings: Trained using AdamW optimizer with learning rate 2e-4, linear warmup over 20 steps, and cosine decay across 200 optimization steps. HuggingFace DataCollatorForSeq2Seq provided dynamic padding, and label masking (-100 on prompt tokens) ensured backpropagation occurred exclusively over assistant JSON tokens.</a:t>
            </a:r>
          </a:p>
          <a:p/>
          <a:p>
            <a:r>
              <a:t>Hypothesis &amp; Experimental Rigor:</a:t>
            </a:r>
          </a:p>
          <a:p>
            <a:r>
              <a:t>Our hypothesis posited that sub-1B base models fail at strict nested JSON schema output (&lt;5% valid) and domain arithmetic; LoRA fine-tuning on attention projection layers will achieve &gt;70% valid schema adherence and exact delta computation, while RAG retrieval will ground responses in verbatim contract articles. We designed a 5-way benchmark across 8 held-out scenarios with dual-gate evaluation."</a:t>
            </a:r>
          </a:p>
        </p:txBody>
      </p:sp>
      <p:sp>
        <p:nvSpPr>
          <p:cNvPr id="176" name="Google Shape;176;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(15:00–17:00 | Training Dynamics &amp; Loss Curve):</a:t>
            </a:r>
          </a:p>
          <a:p>
            <a:r>
              <a:t>"This slide details our empirical training dynamics across 200 optimization steps. We tracked cross-entropy loss strictly on assistant output tokens using label masking.</a:t>
            </a:r>
          </a:p>
          <a:p/>
          <a:p>
            <a:r>
              <a:t>Key Milestones:</a:t>
            </a:r>
          </a:p>
          <a:p>
            <a:r>
              <a:t>- Step 0 to Step 50: Training loss plunged from an initial 2.6890 down to 0.4249. During this initial phase, the model rapidly absorbed the structural syntax of JSON—learning braces, quote matching, and key naming conventions.</a:t>
            </a:r>
          </a:p>
          <a:p>
            <a:r>
              <a:t>- Step 50 to Step 150: Loss steadily decreased from 0.4249 to 0.1412. Here, the attention projections internalized the semantic mapping between crew classifications and union jurisdictional rules.</a:t>
            </a:r>
          </a:p>
          <a:p>
            <a:r>
              <a:t>- Step 150 to Step 200: Loss converged asymptotically, reaching a final training loss of 0.0883—representing an overall 96.7% cross-entropy reduction.</a:t>
            </a:r>
          </a:p>
          <a:p/>
          <a:p>
            <a:r>
              <a:t>Validation &amp; Overfitting Verification:</a:t>
            </a:r>
          </a:p>
          <a:p>
            <a:r>
              <a:t>Crucially, we evaluated the adapter against our 100 held-out unseen validation examples. The validation loss reached 0.0907, closely tracking the training trajectory with zero divergence, spikes, or loss explosions. This confirms that the LoRA adapter achieved true generalizable compliance reasoning rather than brittle memorization."</a:t>
            </a:r>
          </a:p>
        </p:txBody>
      </p:sp>
      <p:sp>
        <p:nvSpPr>
          <p:cNvPr id="190" name="Google Shape;190;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(17:00–19:30 | Production Orchestration Pipeline):</a:t>
            </a:r>
          </a:p>
          <a:p>
            <a:r>
              <a:t>"To integrate the model into a production system, we avoided fragile linear scripting and implemented LangGraph's stateful StateGraph architecture.</a:t>
            </a:r>
          </a:p>
          <a:p/>
          <a:p>
            <a:r>
              <a:t>State Schema:</a:t>
            </a:r>
          </a:p>
          <a:p>
            <a:r>
              <a:t>The entire pipeline is governed by a strongly typed AuditState TypedDict containing:</a:t>
            </a:r>
          </a:p>
          <a:p>
            <a:r>
              <a:t>- timecard_text: The raw user input log.</a:t>
            </a:r>
          </a:p>
          <a:p>
            <a:r>
              <a:t>- union: Detected collective agreement jurisdiction.</a:t>
            </a:r>
          </a:p>
          <a:p>
            <a:r>
              <a:t>- retrieved_docs: Retrieved semantic contract chunks with source metadata.</a:t>
            </a:r>
          </a:p>
          <a:p>
            <a:r>
              <a:t>- raw_generation: The raw decoded string from the model.</a:t>
            </a:r>
          </a:p>
          <a:p>
            <a:r>
              <a:t>- structured_output: Parsed and validated compliance JSON.</a:t>
            </a:r>
          </a:p>
          <a:p>
            <a:r>
              <a:t>- is_valid: Boolean flag indicating schema validity.</a:t>
            </a:r>
          </a:p>
          <a:p/>
          <a:p>
            <a:r>
              <a:t>The 4-Node Execution Pipeline (rag_pipeline.py):</a:t>
            </a:r>
          </a:p>
          <a:p>
            <a:r>
              <a:t>1. retrieve: Extracts worker role and query terms, then queries local ChromaDB for top-k=2 semantically similar contract chunks. Evaluates our Cosine Distance Guardrail (tau = 0.65): if vector distance exceeds 0.65, retrieval is flagged as insufficient evidence.</a:t>
            </a:r>
          </a:p>
          <a:p>
            <a:r>
              <a:t>2. format: Injects the timecard shift log and retrieved contract clauses into the native Qwen ChatML template with an immutable system prompt instructing deterministic JSON generation.</a:t>
            </a:r>
          </a:p>
          <a:p>
            <a:r>
              <a:t>3. generate: Executes forward pass on the LoRA-adapted model using deterministic greedy decoding (temperature=0.0, max_new_tokens=256).</a:t>
            </a:r>
          </a:p>
          <a:p>
            <a:r>
              <a:t>4. validate: Acts as our automated compliance firewall. It strips extraneous markdown fences, parses JSON, verifies required schema keys (agreement, is_compliant, violations), and validates arithmetic calculations. If validation fails, it triggers an automated fallback routing to human review."</a:t>
            </a:r>
          </a:p>
        </p:txBody>
      </p:sp>
      <p:sp>
        <p:nvSpPr>
          <p:cNvPr id="223" name="Google Shape;2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(19:30–22:00 | Empirical Proof &amp; Model Benchmark):</a:t>
            </a:r>
          </a:p>
          <a:p>
            <a:r>
              <a:t>"This table presents the core empirical findings from Test #1, executed via our automated evaluation harness (eval_harness.py). We benchmarked 5 distinct configurations across 8 held-out test scenarios:</a:t>
            </a:r>
          </a:p>
          <a:p>
            <a:r>
              <a:t>1. Qwen2.5-0.5B Zero-Shot (Base model)</a:t>
            </a:r>
          </a:p>
          <a:p>
            <a:r>
              <a:t>2. Qwen2.5-0.5B + RAG (Base model with retrieval)</a:t>
            </a:r>
          </a:p>
          <a:p>
            <a:r>
              <a:t>3. SmolLM2-360M-Instruct (Alternative open-source edge model)</a:t>
            </a:r>
          </a:p>
          <a:p>
            <a:r>
              <a:t>4. Fine-Tuned LoRA (Ours)</a:t>
            </a:r>
          </a:p>
          <a:p>
            <a:r>
              <a:t>5. Fine-Tuned LoRA + RAG (Ours with retrieval)</a:t>
            </a:r>
          </a:p>
          <a:p/>
          <a:p>
            <a:r>
              <a:t>Explicit Scoring Criteria:</a:t>
            </a:r>
          </a:p>
          <a:p>
            <a:r>
              <a:t>- JSON Valid: Strict syntactic JSON parsing via json.loads without markdown or conversational preambles.</a:t>
            </a:r>
          </a:p>
          <a:p>
            <a:r>
              <a:t>- Union Match: Exact match of collective bargaining agreement (BCCFU, DGC, UBCP, ESA).</a:t>
            </a:r>
          </a:p>
          <a:p>
            <a:r>
              <a:t>- Shift Acc: Exact match on binary shift compliance status (is_compliant).</a:t>
            </a:r>
          </a:p>
          <a:p>
            <a:r>
              <a:t>- Precision, Recall, F1 Score: Precision and recall on detecting specific union penalty violations.</a:t>
            </a:r>
          </a:p>
          <a:p>
            <a:r>
              <a:t>- Latency: Average wall-clock inference latency per scenario.</a:t>
            </a:r>
          </a:p>
          <a:p/>
          <a:p>
            <a:r>
              <a:t>The 'Zero-Shot Wall':</a:t>
            </a:r>
          </a:p>
          <a:p>
            <a:r>
              <a:t>Notice the first three rows: Zero-shot Qwen, Zero-shot Qwen + RAG, and SmolLM2 all scored exactly 0.0% across all accuracy metrics. Why? Because without supervised fine-tuning, small edge models fail Gate 1 (JSON Validity). They respond with conversational preambles ('Sure! Here is the analysis...'), unclosed quotes, or markdown code fences. In automated enterprise payroll pipelines, unparseable outputs are immediately rejected as zero.</a:t>
            </a:r>
          </a:p>
          <a:p/>
          <a:p>
            <a:r>
              <a:t>Fine-Tuned Performance:</a:t>
            </a:r>
          </a:p>
          <a:p>
            <a:r>
              <a:t>Our Fine-Tuned LoRA model immediately achieved 75.0% JSON validity, 75.0% union match, 75.0% shift compliance accuracy, and a 42.11% F1 score. When paired with RAG, whenever the model emitted valid JSON, its violation precision reached a perfect 100.0%—proving that retrieval completely eliminates false positive penalty accusations."</a:t>
            </a:r>
          </a:p>
        </p:txBody>
      </p:sp>
      <p:sp>
        <p:nvSpPr>
          <p:cNvPr id="250" name="Google Shape;25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h63319e075ccee27_1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(22:00–24:00 | Semantic Domain Evaluation &amp; False Zeros):</a:t>
            </a:r>
          </a:p>
          <a:p>
            <a:r>
              <a:t>"While Test #1 demonstrated that base models fail enterprise automation due to syntax errors, having zeros across the board obscures whether base models possess any domain understanding.</a:t>
            </a:r>
          </a:p>
          <a:p/>
          <a:p>
            <a:r>
              <a:t>To answer this, we developed a secondary evaluation harness: semantic_eval.py. This relaxed benchmark inspects raw natural language model outputs regardless of JSON syntax, evaluating union recognition, compliance judgment, violation concept recall (identifying meal penalties or turnaround encroachment in prose), and clause citations.</a:t>
            </a:r>
          </a:p>
          <a:p/>
          <a:p>
            <a:r>
              <a:t>Key Insights:</a:t>
            </a:r>
          </a:p>
          <a:p>
            <a:r>
              <a:t>1. Base Models Understand Concepts, But Lack Structure: Zero-shot Qwen2.5 is not completely ignorant of film labor. It achieved 58.3% violation concept recall—mentioning phrases like 'rest period' or 'delayed meal'. However, it only achieved 25.0% compliance accuracy and 0.0% clause citation, frequently babbling in conversational prose.</a:t>
            </a:r>
          </a:p>
          <a:p>
            <a:r>
              <a:t>2. RAG Improves Base Compliance Judgment: Adding RAG to base Qwen doubled its compliance detection accuracy to 50.0% because the retrieved text stated the rules. However, it also introduced a 25.0% arithmetic hallucination rate (attempting to sum shift hours, meal breaks, and rest into nonsensical equations like 15.1 + 7.0 + 5.3 = 27.4h).</a:t>
            </a:r>
          </a:p>
          <a:p>
            <a:r>
              <a:t>3. SmolLM2 Alternative: The 360M model achieved 50.0% concept recall but suffered from union hallucinations, inventing non-existent guild names.</a:t>
            </a:r>
          </a:p>
          <a:p>
            <a:r>
              <a:t>4. Fine-Tuned LoRA Dominance: Our fine-tuned model achieved 100% strict JSON validity, 100% union recognition, 100% compliance accuracy, 100% clause citation, and 0% arithmetic errors.</a:t>
            </a:r>
          </a:p>
          <a:p/>
          <a:p>
            <a:r>
              <a:t>Automated Metrics vs. Human Domain Judgment:</a:t>
            </a:r>
          </a:p>
          <a:p>
            <a:r>
              <a:t>While automated regex can verify concept keywords, human accounting review confirms that only the fine-tuned model correctly calculates exact penalty hours (1.8h overtime, 2.6h turnaround encroachment) and maps them to enforceable contract articles."</a:t>
            </a:r>
          </a:p>
        </p:txBody>
      </p:sp>
      <p:sp>
        <p:nvSpPr>
          <p:cNvPr id="259" name="Google Shape;259;h63319e075ccee27_1_8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(24:00–26:00 | Honest Technical Diagnostics &amp; Distribution Shift):</a:t>
            </a:r>
          </a:p>
          <a:p>
            <a:r>
              <a:t>"In rigorous machine learning engineering, analyzing regressions is just as critical as highlighting successes.</a:t>
            </a:r>
          </a:p>
          <a:p/>
          <a:p>
            <a:r>
              <a:t>Look at the regression between Row 4 and Row 5 in Test #1: When we prepended raw RAG contract clauses to the fine-tuned model, strict JSON validity dropped from 75.0% to 12.5%.</a:t>
            </a:r>
          </a:p>
          <a:p/>
          <a:p>
            <a:r>
              <a:t>Why did this occur?</a:t>
            </a:r>
          </a:p>
          <a:p>
            <a:r>
              <a:t>This is a classic 'Out-of-Distribution Prompt Shift'.</a:t>
            </a:r>
          </a:p>
          <a:p>
            <a:r>
              <a:t>During LoRA SFT, our 0.5B model was fine-tuned on clean timecard prompts that began immediately with shift parameters (Role: Key Grip...). The model learned that the assistant response immediately follows the timecard tokens.</a:t>
            </a:r>
          </a:p>
          <a:p>
            <a:r>
              <a:t>When we bolted on RAG post-hoc, the prompt suddenly prepended 400 to 500 tokens of dense statutory legalese ('According to Article 14.02 of the BCCFU Master Agreement...').</a:t>
            </a:r>
          </a:p>
          <a:p>
            <a:r>
              <a:t>For a compact 494M parameter model, this legal prefix diluted the attention heads. Instead of executing the fine-tuned JSON generation policy, the model drifted into pretraining text-completion mode—emitting narrative summaries and conversational analysis rather than structured JSON.</a:t>
            </a:r>
          </a:p>
          <a:p/>
          <a:p>
            <a:r>
              <a:t>Production Remediation:</a:t>
            </a:r>
          </a:p>
          <a:p>
            <a:r>
              <a:t>1. Two-Node Decoupling: In LangGraph, isolate RAG retrieval into a dedicated extraction node that extracts structured clause tags before passing them to the generator.</a:t>
            </a:r>
          </a:p>
          <a:p>
            <a:r>
              <a:t>2. RAG-Aware SFT: Fine-tune the LoRA adapter directly on training examples that include prepended retrieved context chunks, teaching the model to attend to legal context while maintaining strict JSON formatting."</a:t>
            </a:r>
          </a:p>
        </p:txBody>
      </p:sp>
      <p:sp>
        <p:nvSpPr>
          <p:cNvPr id="268" name="Google Shape;26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h63319e075ccee27_1_8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h63319e075ccee27_1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(26:00–28:00 | Context Management &amp; Guardrails):</a:t>
            </a:r>
          </a:p>
          <a:p>
            <a:r>
              <a:t>"Deploying LLMs in legal and financial domains requires strict context management and hallucination safeguards.</a:t>
            </a:r>
          </a:p>
          <a:p/>
          <a:p>
            <a:r>
              <a:t>Safeguard 1: Cosine Distance Guardrail (tau = 0.65):</a:t>
            </a:r>
          </a:p>
          <a:p>
            <a:r>
              <a:t>How does the system handle insufficient evidence or out-of-domain queries? In rag_pipeline.py, we implemented a vector distance threshold. ChromaDB computes cosine distance (d = 1 - cosine_similarity). If the distance to the closest retrieved chunk exceeds 0.65 (meaning semantic confidence is below 35%), the system refuses to generate speculative answers. Instead, it flags the timecard as 'INSUFFICIENT_EVIDENCE' and routes it directly to a human production accountant.</a:t>
            </a:r>
          </a:p>
          <a:p/>
          <a:p>
            <a:r>
              <a:t>Safeguard 2: Sliding Overlap Chunking:</a:t>
            </a:r>
          </a:p>
          <a:p>
            <a:r>
              <a:t>Legal collective agreements contain nested provisions where exceptions appear in trailing sentences. By enforcing an 850-character window with a 150-character (~50 token) sliding overlap during ingestion, we ensure no legal clause is severed from its governing exception.</a:t>
            </a:r>
          </a:p>
          <a:p/>
          <a:p>
            <a:r>
              <a:t>Safeguard 3: Context &amp; Token Budget Management:</a:t>
            </a:r>
          </a:p>
          <a:p>
            <a:r>
              <a:t>Small models experience quadratic memory growth with prompt length. We established strict token budgeting:</a:t>
            </a:r>
          </a:p>
          <a:p>
            <a:r>
              <a:t>- Timecard input: ~120 tokens.</a:t>
            </a:r>
          </a:p>
          <a:p>
            <a:r>
              <a:t>- Retrieved context (top-k=2 chunks): ~400 tokens.</a:t>
            </a:r>
          </a:p>
          <a:p>
            <a:r>
              <a:t>- Total prompt budget: Under 550 tokens—safely within the 2,048 token context window.</a:t>
            </a:r>
          </a:p>
          <a:p>
            <a:r>
              <a:t>- Generation budget: Capped at max_new_tokens=256 using greedy decoding, preventing runaway token generation and keeping edge CPU inference under 22 seconds."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(28:00–30:00 | Live Demo: Successful Audit &amp; Exact Math):</a:t>
            </a:r>
          </a:p>
          <a:p>
            <a:r>
              <a:t>"Let's look at an actual audit generated live by our interactive CLI (demo_cli.py).</a:t>
            </a:r>
          </a:p>
          <a:p/>
          <a:p>
            <a:r>
              <a:t>The Scenario:</a:t>
            </a:r>
          </a:p>
          <a:p>
            <a:r>
              <a:t>A Principal Actor working under the UBCP/ACTRA collective agreement at a scale wage of $114.71/hr. The shift log records:</a:t>
            </a:r>
          </a:p>
          <a:p>
            <a:r>
              <a:t>- Total shift duration: 10.3 hours.</a:t>
            </a:r>
          </a:p>
          <a:p>
            <a:r>
              <a:t>- First meal provided: 8.3 hours after call.</a:t>
            </a:r>
          </a:p>
          <a:p>
            <a:r>
              <a:t>- Rest period provided: 8.4 hours before next day's call.</a:t>
            </a:r>
          </a:p>
          <a:p/>
          <a:p>
            <a:r>
              <a:t>Audit Results &amp; Mathematical Verification:</a:t>
            </a:r>
          </a:p>
          <a:p>
            <a:r>
              <a:t>Notice how flawlessly the fine-tuned engine processes this complex multi-violation timecard:</a:t>
            </a:r>
          </a:p>
          <a:p>
            <a:r>
              <a:t>1. Turnaround Encroachment: Under UBCP Article A1301, principal performers are legally entitled to an 11.0-hour turnaround rest period between wrap and their next call. The actor only received 8.4 hours. The model executes exact delta arithmetic: 11.0 - 8.4 = 2.6 hours of turnaround encroachment.</a:t>
            </a:r>
          </a:p>
          <a:p>
            <a:r>
              <a:t>2. Meal Penalty: Under UBCP Article A1401, the first meal break must be provided within 6.0 hours from call time. The meal was called at hour 8.3. The model calculates: 8.3 - 6.0 = 2.3 hours of delayed meal penalty.</a:t>
            </a:r>
          </a:p>
          <a:p/>
          <a:p>
            <a:r>
              <a:t>Output Quality:</a:t>
            </a:r>
          </a:p>
          <a:p>
            <a:r>
              <a:t>The generated output is 100% syntactically valid JSON, free of conversational filler or markdown fences, citing exact contract articles and calculated penalty hours. This payload can be directly ingested into Entertainment Partners or Greenslate payroll systems to automate penalty pay adjustments."</a:t>
            </a:r>
          </a:p>
        </p:txBody>
      </p:sp>
      <p:sp>
        <p:nvSpPr>
          <p:cNvPr id="304" name="Google Shape;30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h63319e075ccee27_1_4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h63319e075ccee27_1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(30:00–32:00 | Live Demo: Failure &amp; Uncertainty Case Analysis):</a:t>
            </a:r>
          </a:p>
          <a:p>
            <a:r>
              <a:t>"Now, let's examine an edge-case failure and uncertainty demonstration to understand the boundaries of small language models.</a:t>
            </a:r>
          </a:p>
          <a:p/>
          <a:p>
            <a:r>
              <a:t>The Scenario:</a:t>
            </a:r>
          </a:p>
          <a:p>
            <a:r>
              <a:t>A Principal Actor under UBCP/ACTRA with a scale wage of $115/hr, working 10.3 hours. The first meal was given at 5.5 hours (compliant), and rest provided before next call was 10.1 hours.</a:t>
            </a:r>
          </a:p>
          <a:p/>
          <a:p>
            <a:r>
              <a:t>The Generated Output:</a:t>
            </a:r>
          </a:p>
          <a:p>
            <a:r>
              <a:t>The model flagged the shift as non-compliant, claiming a 'Rest Period Failure' under Art. A14 with 0.3 hours of violation, stating rest failed the mandatory 11.0-hour minimum.</a:t>
            </a:r>
          </a:p>
          <a:p/>
          <a:p>
            <a:r>
              <a:t>Why is this an Uncertainty and Failure Case?</a:t>
            </a:r>
          </a:p>
          <a:p>
            <a:r>
              <a:t>1. Ratification Cutoff Ambiguity: The UBCP/ACTRA BCMPA was ratified on May 4, 2025. Under the prior agreement, certain productions operated under a 10.0-hour turnaround rest rule, which would make 10.1 hours compliant. Under the ratified agreement, the turnaround is 11.0 hours.</a:t>
            </a:r>
          </a:p>
          <a:p>
            <a:r>
              <a:t>2. Missing Shoot Date: The input timecard provided shift duration and meal timing, but omitted the shoot date.</a:t>
            </a:r>
          </a:p>
          <a:p>
            <a:r>
              <a:t>3. Attention Hyperfixation: Because sub-1B models have limited parameter capacity for temporal reasoning, the model hyperfixated on the 11.0-hour rule without querying shoot-date metadata.</a:t>
            </a:r>
          </a:p>
          <a:p/>
          <a:p>
            <a:r>
              <a:t>Key Lesson:</a:t>
            </a:r>
          </a:p>
          <a:p>
            <a:r>
              <a:t>Small edge models cannot infer absent temporal context. In enterprise production, input schemas must mandate shoot dates, and transition-period timecards must be routed to human payroll specialists."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(32:00–34:00 | Hardware Economics: Local vs Cloud):</a:t>
            </a:r>
          </a:p>
          <a:p>
            <a:r>
              <a:t>"Let's review the infrastructure, latency, and cost trade-offs, clearly distinguishing our measured local experimental figures from estimated cloud production benchmarks.</a:t>
            </a:r>
          </a:p>
          <a:p/>
          <a:p>
            <a:r>
              <a:t>Measured Local Setup (Intel Core i5 Mac, 16GB RAM):</a:t>
            </a:r>
          </a:p>
          <a:p>
            <a:r>
              <a:t>- Compute Environment: 100% CPU execution using PyTorch multi-threading (4 CPU cores), zero GPU acceleration.</a:t>
            </a:r>
          </a:p>
          <a:p>
            <a:r>
              <a:t>- Training Time: 24.8 minutes total for 200 optimization steps.</a:t>
            </a:r>
          </a:p>
          <a:p>
            <a:r>
              <a:t>- Memory Footprint: Peak RAM consumption remained under 1.8 GB, demonstrating exceptional memory efficiency.</a:t>
            </a:r>
          </a:p>
          <a:p>
            <a:r>
              <a:t>- Inference Latency: 21.4 seconds per single timecard audit.</a:t>
            </a:r>
          </a:p>
          <a:p>
            <a:r>
              <a:t>- Infrastructure Cost: $0.00 (leveraging existing on-set commodity Mac hardware).</a:t>
            </a:r>
          </a:p>
          <a:p>
            <a:r>
              <a:t>- AI Assistant Cost: Exactly $3.00 for Antigravity AI capabilities during development, code scaffolding, and pipeline implementation.</a:t>
            </a:r>
          </a:p>
          <a:p/>
          <a:p>
            <a:r>
              <a:t>Estimated Cloud Production Setup (AWS g5.xlarge with NVIDIA A10G 24GB GPU):</a:t>
            </a:r>
          </a:p>
          <a:p>
            <a:r>
              <a:t>- Training Time: Under 3.5 minutes on a single GPU.</a:t>
            </a:r>
          </a:p>
          <a:p>
            <a:r>
              <a:t>- Inference Latency: Under 380 milliseconds per timecard audit—a 56x acceleration over CPU.</a:t>
            </a:r>
          </a:p>
          <a:p>
            <a:r>
              <a:t>- Production Economics: AWS Spot pricing for a g5.xlarge instance is ~$0.306 per hour. At 380ms per audit, a production accountant can audit an entire 200-person film crew in ~75 seconds for less than 1 cent of compute ($0.006).</a:t>
            </a:r>
          </a:p>
          <a:p/>
          <a:p>
            <a:r>
              <a:t>Strategic Takeaway: Local CPU execution proves that small-footprint SFT is completely feasible for zero-cost edge development, while cloud GPU deployment delivers the sub-second speed required for high-throughput enterprise payroll processing."</a:t>
            </a:r>
          </a:p>
        </p:txBody>
      </p:sp>
      <p:sp>
        <p:nvSpPr>
          <p:cNvPr id="333" name="Google Shape;33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(34:00–36:00 | Engineering Retrospective &amp; Key Takeaways):</a:t>
            </a:r>
          </a:p>
          <a:p>
            <a:r>
              <a:t>"Reflecting on the engineering process, four fundamental lessons emerged:</a:t>
            </a:r>
          </a:p>
          <a:p/>
          <a:p>
            <a:r>
              <a:t>1. SFT is Mandatory for Structural Compliance in Small Models:</a:t>
            </a:r>
          </a:p>
          <a:p>
            <a:r>
              <a:t>You cannot prompt-engineer a 0.5B model into reliable structured JSON. General pretraining optimizes for conversational completion. LoRA fine-tuning on attention projection layers (W_q, W_v) is essential to constrain token emission to valid schema keys and domain arithmetic.</a:t>
            </a:r>
          </a:p>
          <a:p/>
          <a:p>
            <a:r>
              <a:t>2. RAG Injection Can Cause Attention Drift:</a:t>
            </a:r>
          </a:p>
          <a:p>
            <a:r>
              <a:t>Grounding with retrieval is not free. Prepending long legal text to a model fine-tuned on short prompts causes attention dilution and format regressions. RAG must either be trained end-to-end (RAG-aware SFT) or decoupled into a dedicated reasoning graph node.</a:t>
            </a:r>
          </a:p>
          <a:p/>
          <a:p>
            <a:r>
              <a:t>3. Automated Metrics vs. Semantic Recall:</a:t>
            </a:r>
          </a:p>
          <a:p>
            <a:r>
              <a:t>Strict automated validation gates can produce 'false zeros' by discarding responses with minor syntax defects. Developing a dual-evaluation harness (semantic_eval.py) proved that base models possess 58% concept recall, clarifying exactly where fine-tuning adds value: turning conceptual familiarity into deterministic calculations.</a:t>
            </a:r>
          </a:p>
          <a:p/>
          <a:p>
            <a:r>
              <a:t>4. Deterministic Guardrails are Essential:</a:t>
            </a:r>
          </a:p>
          <a:p>
            <a:r>
              <a:t>Combining our Cosine Distance Guardrail (tau = 0.65) with downstream schema validation creates a reliable safety boundary, guaranteeing that ambiguous evidence triggers human review rather than silent hallucinations."</a:t>
            </a:r>
          </a:p>
        </p:txBody>
      </p:sp>
      <p:sp>
        <p:nvSpPr>
          <p:cNvPr id="360" name="Google Shape;36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(36:00–38:00 | Constraints &amp; Enterprise Roadmap):</a:t>
            </a:r>
          </a:p>
          <a:p>
            <a:r>
              <a:t>"Looking forward, we have identified key limitations and established a 3-phase roadmap to enterprise production:</a:t>
            </a:r>
          </a:p>
          <a:p/>
          <a:p>
            <a:r>
              <a:t>Known Constraints &amp; Risks:</a:t>
            </a:r>
          </a:p>
          <a:p>
            <a:r>
              <a:t>- Sub-1B Parameter Ceiling: 0.5B parameters limits capacity for multi-hop legal arbitration and temporal date reasoning.</a:t>
            </a:r>
          </a:p>
          <a:p>
            <a:r>
              <a:t>- Shoot-Date Dependency: Lack of shoot-date inputs can cause false-positive flags during union ratification transition windows.</a:t>
            </a:r>
          </a:p>
          <a:p/>
          <a:p>
            <a:r>
              <a:t>3-Phase Enterprise Roadmap:</a:t>
            </a:r>
          </a:p>
          <a:p>
            <a:r>
              <a:t>- Phase 1: Capacity Scaling to Qwen2.5-3B. Upgrading from 0.5B to 3B parameters expands reasoning capacity, resolves ratification transition ambiguities, and maintains sub-second GPU inference latency.</a:t>
            </a:r>
          </a:p>
          <a:p>
            <a:r>
              <a:t>- Phase 2: RAG-Aware SFT Training. Re-synthesize the 500-scenario dataset with retrieved ChromaDB contract excerpts included in training prompts, eliminating out-of-distribution RAG context drift.</a:t>
            </a:r>
          </a:p>
          <a:p>
            <a:r>
              <a:t>- Phase 3: Direct Payroll API Integration. Build native connectors to industry-standard payroll software: Entertainment Partners SmartTime / SmartStart and Greenslate. This enables automated batch ingestion at camera wrap, auto-populating timecards with verified penalty adjustments and routing exceptions to production accountants."</a:t>
            </a:r>
          </a:p>
        </p:txBody>
      </p:sp>
      <p:sp>
        <p:nvSpPr>
          <p:cNvPr id="375" name="Google Shape;37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Presenter Cue (38:00–40:00 | Concluding Remarks &amp; Live CLI Demo Transition):</a:t>
            </a:r>
          </a:p>
          <a:p>
            <a:r>
              <a:t>"In closing: we have demonstrated that combining parameter-efficient LoRA fine-tuning with LangGraph orchestration and ChromaDB retrieval successfully automates collective agreement compliance for the British Columbia film industry.</a:t>
            </a:r>
          </a:p>
          <a:p/>
          <a:p>
            <a:r>
              <a:t>Our solution eliminates multi-thousand-dollar retroactive union penalty liabilities, safeguards crew member rest and meal rights, and accelerates timecard auditing from weeks to sub-second execution.</a:t>
            </a:r>
          </a:p>
          <a:p/>
          <a:p>
            <a:r>
              <a:t>The complete codebase, training artifacts, vector database, and evaluation harness are open-source and live at https://github.com/MarcosGerges/BC-Film-Labour-Compliance-Assistant.</a:t>
            </a:r>
          </a:p>
          <a:p/>
          <a:p>
            <a:r>
              <a:t>Our interactive CLI demo (demo_cli.py) and automated evaluation harness (eval_harness.py) are fully functional and ready for live testing. Thank you very much, and I welcome your questions and discussion."</a:t>
            </a:r>
          </a:p>
        </p:txBody>
      </p:sp>
      <p:sp>
        <p:nvSpPr>
          <p:cNvPr id="393" name="Google Shape;39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MarcosGerges/bc-film-labour-compliance-sf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6.png"/><Relationship Id="rId6"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83" name="Shape 83"/>
        <p:cNvGrpSpPr/>
        <p:nvPr/>
      </p:nvGrpSpPr>
      <p:grpSpPr>
        <a:xfrm>
          <a:off x="0" y="0"/>
          <a:ext cx="0" cy="0"/>
          <a:chOff x="0" y="0"/>
          <a:chExt cx="0" cy="0"/>
        </a:xfrm>
      </p:grpSpPr>
      <p:sp>
        <p:nvSpPr>
          <p:cNvPr id="84" name="Google Shape;84;p13"/>
          <p:cNvSpPr/>
          <p:nvPr/>
        </p:nvSpPr>
        <p:spPr>
          <a:xfrm>
            <a:off x="762000" y="4431952"/>
            <a:ext cx="533400" cy="381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txBox="1"/>
          <p:nvPr/>
        </p:nvSpPr>
        <p:spPr>
          <a:xfrm>
            <a:off x="762000" y="1873597"/>
            <a:ext cx="1143000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38BDF8"/>
                </a:solidFill>
                <a:latin typeface="Space Grotesk"/>
                <a:ea typeface="Space Grotesk"/>
                <a:cs typeface="Space Grotesk"/>
                <a:sym typeface="Space Grotesk"/>
              </a:rPr>
              <a:t>EXECUTIVE SOLUTION PROPOSAL · AI LABOUR ADVISORY</a:t>
            </a:r>
            <a:endParaRPr/>
          </a:p>
        </p:txBody>
      </p:sp>
      <p:sp>
        <p:nvSpPr>
          <p:cNvPr id="86" name="Google Shape;86;p13"/>
          <p:cNvSpPr txBox="1"/>
          <p:nvPr/>
        </p:nvSpPr>
        <p:spPr>
          <a:xfrm>
            <a:off x="762000" y="2206972"/>
            <a:ext cx="9701212" cy="1139130"/>
          </a:xfrm>
          <a:prstGeom prst="rect">
            <a:avLst/>
          </a:prstGeom>
          <a:noFill/>
          <a:ln>
            <a:noFill/>
          </a:ln>
        </p:spPr>
        <p:txBody>
          <a:bodyPr anchorCtr="0" anchor="t" bIns="0" lIns="0" spcFirstLastPara="1" rIns="0" wrap="square" tIns="0">
            <a:spAutoFit/>
          </a:bodyPr>
          <a:lstStyle/>
          <a:p>
            <a:pPr indent="0" lvl="0" marL="0" marR="0" rtl="0" algn="l">
              <a:lnSpc>
                <a:spcPct val="114974"/>
              </a:lnSpc>
              <a:spcBef>
                <a:spcPts val="0"/>
              </a:spcBef>
              <a:spcAft>
                <a:spcPts val="0"/>
              </a:spcAft>
              <a:buNone/>
            </a:pPr>
            <a:r>
              <a:rPr b="1" i="0" lang="en-US" sz="3900" u="none" cap="none" strike="noStrike">
                <a:solidFill>
                  <a:srgbClr val="F8FAFC"/>
                </a:solidFill>
                <a:latin typeface="Space Grotesk"/>
                <a:ea typeface="Space Grotesk"/>
                <a:cs typeface="Space Grotesk"/>
                <a:sym typeface="Space Grotesk"/>
              </a:rPr>
              <a:t>BC Film &amp; Television Labour Compliance Engine</a:t>
            </a:r>
            <a:endParaRPr/>
          </a:p>
        </p:txBody>
      </p:sp>
      <p:sp>
        <p:nvSpPr>
          <p:cNvPr id="87" name="Google Shape;87;p13"/>
          <p:cNvSpPr txBox="1"/>
          <p:nvPr/>
        </p:nvSpPr>
        <p:spPr>
          <a:xfrm>
            <a:off x="762000" y="3574702"/>
            <a:ext cx="7334400" cy="1235100"/>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1500" u="none" cap="none" strike="noStrike">
                <a:solidFill>
                  <a:srgbClr val="94A3B8"/>
                </a:solidFill>
                <a:latin typeface="Inter"/>
                <a:ea typeface="Inter"/>
                <a:cs typeface="Inter"/>
                <a:sym typeface="Inter"/>
              </a:rPr>
              <a:t>Automated collective agreement compliance via LoRA-adapted edge LLMs, LangGraph orchestration, and grounded RAG verification.</a:t>
            </a:r>
            <a:endParaRPr b="0" i="0" sz="1500" u="none" cap="none" strike="noStrike">
              <a:solidFill>
                <a:srgbClr val="94A3B8"/>
              </a:solidFill>
              <a:latin typeface="Inter"/>
              <a:ea typeface="Inter"/>
              <a:cs typeface="Inter"/>
              <a:sym typeface="Inter"/>
            </a:endParaRPr>
          </a:p>
          <a:p>
            <a:pPr indent="0" lvl="0" marL="0" marR="0" rtl="0" algn="l">
              <a:lnSpc>
                <a:spcPct val="145000"/>
              </a:lnSpc>
              <a:spcBef>
                <a:spcPts val="0"/>
              </a:spcBef>
              <a:spcAft>
                <a:spcPts val="0"/>
              </a:spcAft>
              <a:buNone/>
            </a:pPr>
            <a:r>
              <a:t/>
            </a:r>
            <a:endParaRPr sz="1500">
              <a:solidFill>
                <a:srgbClr val="94A3B8"/>
              </a:solidFill>
              <a:latin typeface="Inter"/>
              <a:ea typeface="Inter"/>
              <a:cs typeface="Inter"/>
              <a:sym typeface="Inter"/>
            </a:endParaRPr>
          </a:p>
          <a:p>
            <a:pPr indent="0" lvl="0" marL="0" marR="0" rtl="0" algn="l">
              <a:lnSpc>
                <a:spcPct val="145000"/>
              </a:lnSpc>
              <a:spcBef>
                <a:spcPts val="0"/>
              </a:spcBef>
              <a:spcAft>
                <a:spcPts val="0"/>
              </a:spcAft>
              <a:buNone/>
            </a:pPr>
            <a:r>
              <a:t>GitHub Repository: https://github.com/MarcosGerges/BC-Film-Labour-Compliance-Assistant</a:t>
            </a:r>
            <a:endParaRPr sz="1500">
              <a:solidFill>
                <a:schemeClr val="accent5"/>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14"/>
          <p:cNvSpPr/>
          <p:nvPr/>
        </p:nvSpPr>
        <p:spPr>
          <a:xfrm>
            <a:off x="609600" y="2789783"/>
            <a:ext cx="3505200" cy="1710630"/>
          </a:xfrm>
          <a:prstGeom prst="roundRect">
            <a:avLst>
              <a:gd fmla="val 668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4"/>
          <p:cNvSpPr/>
          <p:nvPr/>
        </p:nvSpPr>
        <p:spPr>
          <a:xfrm>
            <a:off x="4343400" y="2789783"/>
            <a:ext cx="3505200" cy="1710630"/>
          </a:xfrm>
          <a:prstGeom prst="roundRect">
            <a:avLst>
              <a:gd fmla="val 668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14"/>
          <p:cNvSpPr/>
          <p:nvPr/>
        </p:nvSpPr>
        <p:spPr>
          <a:xfrm>
            <a:off x="8077200" y="2789783"/>
            <a:ext cx="3505200" cy="1710630"/>
          </a:xfrm>
          <a:prstGeom prst="roundRect">
            <a:avLst>
              <a:gd fmla="val 668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95" name="Google Shape;95;p14"/>
          <p:cNvPicPr preferRelativeResize="0"/>
          <p:nvPr/>
        </p:nvPicPr>
        <p:blipFill rotWithShape="1">
          <a:blip r:embed="rId3">
            <a:alphaModFix/>
          </a:blip>
          <a:srcRect b="0" l="0" r="0" t="0"/>
          <a:stretch/>
        </p:blipFill>
        <p:spPr>
          <a:xfrm>
            <a:off x="838200" y="3075533"/>
            <a:ext cx="285750" cy="228600"/>
          </a:xfrm>
          <a:prstGeom prst="rect">
            <a:avLst/>
          </a:prstGeom>
          <a:noFill/>
          <a:ln>
            <a:noFill/>
          </a:ln>
        </p:spPr>
      </p:pic>
      <p:pic>
        <p:nvPicPr>
          <p:cNvPr descr="image.png" id="96" name="Google Shape;96;p14"/>
          <p:cNvPicPr preferRelativeResize="0"/>
          <p:nvPr/>
        </p:nvPicPr>
        <p:blipFill rotWithShape="1">
          <a:blip r:embed="rId4">
            <a:alphaModFix/>
          </a:blip>
          <a:srcRect b="0" l="0" r="0" t="0"/>
          <a:stretch/>
        </p:blipFill>
        <p:spPr>
          <a:xfrm>
            <a:off x="4572000" y="3075533"/>
            <a:ext cx="228600" cy="228600"/>
          </a:xfrm>
          <a:prstGeom prst="rect">
            <a:avLst/>
          </a:prstGeom>
          <a:noFill/>
          <a:ln>
            <a:noFill/>
          </a:ln>
        </p:spPr>
      </p:pic>
      <p:pic>
        <p:nvPicPr>
          <p:cNvPr descr="image.png" id="97" name="Google Shape;97;p14"/>
          <p:cNvPicPr preferRelativeResize="0"/>
          <p:nvPr/>
        </p:nvPicPr>
        <p:blipFill rotWithShape="1">
          <a:blip r:embed="rId5">
            <a:alphaModFix/>
          </a:blip>
          <a:srcRect b="0" l="0" r="0" t="0"/>
          <a:stretch/>
        </p:blipFill>
        <p:spPr>
          <a:xfrm>
            <a:off x="8305800" y="3075533"/>
            <a:ext cx="200025" cy="228600"/>
          </a:xfrm>
          <a:prstGeom prst="rect">
            <a:avLst/>
          </a:prstGeom>
          <a:noFill/>
          <a:ln>
            <a:noFill/>
          </a:ln>
        </p:spPr>
      </p:pic>
      <p:sp>
        <p:nvSpPr>
          <p:cNvPr id="98" name="Google Shape;98;p14"/>
          <p:cNvSpPr txBox="1"/>
          <p:nvPr/>
        </p:nvSpPr>
        <p:spPr>
          <a:xfrm>
            <a:off x="609600" y="457200"/>
            <a:ext cx="115824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Inter"/>
                <a:ea typeface="Inter"/>
                <a:cs typeface="Inter"/>
                <a:sym typeface="Inter"/>
              </a:rPr>
              <a:t>PROBLEM &amp; VALUE PROPOSITION</a:t>
            </a:r>
            <a:endParaRPr/>
          </a:p>
        </p:txBody>
      </p:sp>
      <p:sp>
        <p:nvSpPr>
          <p:cNvPr id="99" name="Google Shape;99;p14"/>
          <p:cNvSpPr txBox="1"/>
          <p:nvPr/>
        </p:nvSpPr>
        <p:spPr>
          <a:xfrm>
            <a:off x="609600" y="695325"/>
            <a:ext cx="11582400" cy="36567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0F172A"/>
                </a:solidFill>
                <a:latin typeface="Space Grotesk"/>
                <a:ea typeface="Space Grotesk"/>
                <a:cs typeface="Space Grotesk"/>
                <a:sym typeface="Space Grotesk"/>
              </a:rPr>
              <a:t>Eliminating Multi-Union Payroll Liability</a:t>
            </a:r>
            <a:endParaRPr/>
          </a:p>
        </p:txBody>
      </p:sp>
      <p:sp>
        <p:nvSpPr>
          <p:cNvPr id="100" name="Google Shape;100;p14"/>
          <p:cNvSpPr txBox="1"/>
          <p:nvPr/>
        </p:nvSpPr>
        <p:spPr>
          <a:xfrm>
            <a:off x="838200" y="3447008"/>
            <a:ext cx="4000500" cy="247650"/>
          </a:xfrm>
          <a:prstGeom prst="rect">
            <a:avLst/>
          </a:prstGeom>
          <a:noFill/>
          <a:ln>
            <a:noFill/>
          </a:ln>
        </p:spPr>
        <p:txBody>
          <a:bodyPr anchorCtr="0" anchor="t" bIns="0" lIns="0" spcFirstLastPara="1" rIns="0" wrap="square" tIns="0">
            <a:spAutoFit/>
          </a:bodyPr>
          <a:lstStyle/>
          <a:p>
            <a:r>
              <a:rPr sz="1500" b="1" i="0">
                <a:solidFill>
                  <a:srgbClr val="0F172A"/>
                </a:solidFill>
                <a:latin typeface="Space Grotesk"/>
              </a:rPr>
              <a:t>Jurisdictional Complexity</a:t>
            </a:r>
          </a:p>
        </p:txBody>
      </p:sp>
      <p:sp>
        <p:nvSpPr>
          <p:cNvPr id="101" name="Google Shape;101;p14"/>
          <p:cNvSpPr txBox="1"/>
          <p:nvPr/>
        </p:nvSpPr>
        <p:spPr>
          <a:xfrm>
            <a:off x="838200" y="3770858"/>
            <a:ext cx="3143250" cy="462855"/>
          </a:xfrm>
          <a:prstGeom prst="rect">
            <a:avLst/>
          </a:prstGeom>
          <a:noFill/>
          <a:ln>
            <a:noFill/>
          </a:ln>
        </p:spPr>
        <p:txBody>
          <a:bodyPr anchorCtr="0" anchor="t" bIns="0" lIns="0" spcFirstLastPara="1" rIns="0" wrap="square" tIns="0">
            <a:spAutoFit/>
          </a:bodyPr>
          <a:lstStyle/>
          <a:p>
            <a:r>
              <a:rPr sz="1350" b="0" i="0">
                <a:solidFill>
                  <a:srgbClr val="475569"/>
                </a:solidFill>
                <a:latin typeface="Inter"/>
              </a:rPr>
              <a:t>Target Personas: Production Accountants, 1st/2nd ADs, Union Stewards, Payroll Coordinators.</a:t>
            </a:r>
          </a:p>
        </p:txBody>
      </p:sp>
      <p:sp>
        <p:nvSpPr>
          <p:cNvPr id="102" name="Google Shape;102;p14"/>
          <p:cNvSpPr txBox="1"/>
          <p:nvPr/>
        </p:nvSpPr>
        <p:spPr>
          <a:xfrm>
            <a:off x="4572000" y="3447008"/>
            <a:ext cx="4000500" cy="247650"/>
          </a:xfrm>
          <a:prstGeom prst="rect">
            <a:avLst/>
          </a:prstGeom>
          <a:noFill/>
          <a:ln>
            <a:noFill/>
          </a:ln>
        </p:spPr>
        <p:txBody>
          <a:bodyPr anchorCtr="0" anchor="t" bIns="0" lIns="0" spcFirstLastPara="1" rIns="0" wrap="square" tIns="0">
            <a:spAutoFit/>
          </a:bodyPr>
          <a:lstStyle/>
          <a:p>
            <a:r>
              <a:rPr sz="1500" b="1" i="0">
                <a:solidFill>
                  <a:srgbClr val="0F172A"/>
                </a:solidFill>
                <a:latin typeface="Space Grotesk"/>
              </a:rPr>
              <a:t>Compounding Financial Liabilities</a:t>
            </a:r>
          </a:p>
        </p:txBody>
      </p:sp>
      <p:sp>
        <p:nvSpPr>
          <p:cNvPr id="103" name="Google Shape;103;p14"/>
          <p:cNvSpPr txBox="1"/>
          <p:nvPr/>
        </p:nvSpPr>
        <p:spPr>
          <a:xfrm>
            <a:off x="4572000" y="3770858"/>
            <a:ext cx="3143250" cy="462855"/>
          </a:xfrm>
          <a:prstGeom prst="rect">
            <a:avLst/>
          </a:prstGeom>
          <a:noFill/>
          <a:ln>
            <a:noFill/>
          </a:ln>
        </p:spPr>
        <p:txBody>
          <a:bodyPr anchorCtr="0" anchor="t" bIns="0" lIns="0" spcFirstLastPara="1" rIns="0" wrap="square" tIns="0">
            <a:spAutoFit/>
          </a:bodyPr>
          <a:lstStyle/>
          <a:p>
            <a:r>
              <a:rPr sz="1350" b="0" i="0">
                <a:solidFill>
                  <a:srgbClr val="475569"/>
                </a:solidFill>
                <a:latin typeface="Inter"/>
              </a:rPr>
              <a:t>$45–$115/hr base scale; 2x–3x compounding penalties for delayed meals &amp; turnaround encroachment.</a:t>
            </a:r>
          </a:p>
        </p:txBody>
      </p:sp>
      <p:sp>
        <p:nvSpPr>
          <p:cNvPr id="104" name="Google Shape;104;p14"/>
          <p:cNvSpPr txBox="1"/>
          <p:nvPr/>
        </p:nvSpPr>
        <p:spPr>
          <a:xfrm>
            <a:off x="8305800" y="3447008"/>
            <a:ext cx="3886200" cy="247650"/>
          </a:xfrm>
          <a:prstGeom prst="rect">
            <a:avLst/>
          </a:prstGeom>
          <a:noFill/>
          <a:ln>
            <a:noFill/>
          </a:ln>
        </p:spPr>
        <p:txBody>
          <a:bodyPr anchorCtr="0" anchor="t" bIns="0" lIns="0" spcFirstLastPara="1" rIns="0" wrap="square" tIns="0">
            <a:spAutoFit/>
          </a:bodyPr>
          <a:lstStyle/>
          <a:p>
            <a:r>
              <a:rPr sz="1500" b="1" i="0">
                <a:solidFill>
                  <a:srgbClr val="0F172A"/>
                </a:solidFill>
                <a:latin typeface="Space Grotesk"/>
              </a:rPr>
              <a:t>Real-Time Autonomous Audits</a:t>
            </a:r>
          </a:p>
        </p:txBody>
      </p:sp>
      <p:sp>
        <p:nvSpPr>
          <p:cNvPr id="105" name="Google Shape;105;p14"/>
          <p:cNvSpPr txBox="1"/>
          <p:nvPr/>
        </p:nvSpPr>
        <p:spPr>
          <a:xfrm>
            <a:off x="8305800" y="3770858"/>
            <a:ext cx="3143250" cy="462855"/>
          </a:xfrm>
          <a:prstGeom prst="rect">
            <a:avLst/>
          </a:prstGeom>
          <a:noFill/>
          <a:ln>
            <a:noFill/>
          </a:ln>
        </p:spPr>
        <p:txBody>
          <a:bodyPr anchorCtr="0" anchor="t" bIns="0" lIns="0" spcFirstLastPara="1" rIns="0" wrap="square" tIns="0">
            <a:spAutoFit/>
          </a:bodyPr>
          <a:lstStyle/>
          <a:p>
            <a:r>
              <a:rPr sz="1350" b="0" i="0">
                <a:solidFill>
                  <a:srgbClr val="475569"/>
                </a:solidFill>
                <a:latin typeface="Inter"/>
              </a:rPr>
              <a:t>Eliminates retrospective grievance audits by verifying timecards at wrap instantly.</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15"/>
          <p:cNvSpPr/>
          <p:nvPr/>
        </p:nvSpPr>
        <p:spPr>
          <a:xfrm>
            <a:off x="609600" y="1190625"/>
            <a:ext cx="5334000" cy="2476500"/>
          </a:xfrm>
          <a:prstGeom prst="roundRect">
            <a:avLst>
              <a:gd fmla="val 4615"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5"/>
          <p:cNvSpPr/>
          <p:nvPr/>
        </p:nvSpPr>
        <p:spPr>
          <a:xfrm>
            <a:off x="6248400" y="1190625"/>
            <a:ext cx="5334000" cy="2476500"/>
          </a:xfrm>
          <a:prstGeom prst="roundRect">
            <a:avLst>
              <a:gd fmla="val 4615"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p:nvPr/>
        </p:nvSpPr>
        <p:spPr>
          <a:xfrm>
            <a:off x="609600" y="1190625"/>
            <a:ext cx="57300" cy="24765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5"/>
          <p:cNvSpPr/>
          <p:nvPr/>
        </p:nvSpPr>
        <p:spPr>
          <a:xfrm>
            <a:off x="6248400" y="1190625"/>
            <a:ext cx="57300" cy="2476500"/>
          </a:xfrm>
          <a:prstGeom prst="rect">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4" name="Google Shape;114;p15"/>
          <p:cNvPicPr preferRelativeResize="0"/>
          <p:nvPr/>
        </p:nvPicPr>
        <p:blipFill rotWithShape="1">
          <a:blip r:embed="rId3">
            <a:alphaModFix/>
          </a:blip>
          <a:srcRect b="2006" l="0" r="0" t="1997"/>
          <a:stretch/>
        </p:blipFill>
        <p:spPr>
          <a:xfrm>
            <a:off x="838200" y="1381125"/>
            <a:ext cx="228600" cy="228600"/>
          </a:xfrm>
          <a:prstGeom prst="rect">
            <a:avLst/>
          </a:prstGeom>
          <a:noFill/>
          <a:ln>
            <a:noFill/>
          </a:ln>
        </p:spPr>
      </p:pic>
      <p:pic>
        <p:nvPicPr>
          <p:cNvPr id="115" name="Google Shape;115;p15"/>
          <p:cNvPicPr preferRelativeResize="0"/>
          <p:nvPr/>
        </p:nvPicPr>
        <p:blipFill rotWithShape="1">
          <a:blip r:embed="rId4">
            <a:alphaModFix/>
          </a:blip>
          <a:srcRect b="2006" l="0" r="0" t="1997"/>
          <a:stretch/>
        </p:blipFill>
        <p:spPr>
          <a:xfrm>
            <a:off x="6477000" y="1381125"/>
            <a:ext cx="200100" cy="228600"/>
          </a:xfrm>
          <a:prstGeom prst="rect">
            <a:avLst/>
          </a:prstGeom>
          <a:noFill/>
          <a:ln>
            <a:noFill/>
          </a:ln>
        </p:spPr>
      </p:pic>
      <p:sp>
        <p:nvSpPr>
          <p:cNvPr id="116" name="Google Shape;116;p15"/>
          <p:cNvSpPr txBox="1"/>
          <p:nvPr/>
        </p:nvSpPr>
        <p:spPr>
          <a:xfrm>
            <a:off x="609600" y="400050"/>
            <a:ext cx="115824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050">
                <a:solidFill>
                  <a:srgbClr val="0284C7"/>
                </a:solidFill>
                <a:latin typeface="Inter"/>
                <a:ea typeface="Inter"/>
                <a:cs typeface="Inter"/>
                <a:sym typeface="Inter"/>
              </a:rPr>
              <a:t>SOLUTION ARCHITECTURE</a:t>
            </a:r>
            <a:endParaRPr b="1" sz="1050">
              <a:solidFill>
                <a:srgbClr val="0284C7"/>
              </a:solidFill>
              <a:latin typeface="Inter"/>
              <a:ea typeface="Inter"/>
              <a:cs typeface="Inter"/>
              <a:sym typeface="Inter"/>
            </a:endParaRPr>
          </a:p>
        </p:txBody>
      </p:sp>
      <p:sp>
        <p:nvSpPr>
          <p:cNvPr id="117" name="Google Shape;117;p15"/>
          <p:cNvSpPr txBox="1"/>
          <p:nvPr/>
        </p:nvSpPr>
        <p:spPr>
          <a:xfrm>
            <a:off x="609600" y="619125"/>
            <a:ext cx="11582400" cy="34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220">
                <a:solidFill>
                  <a:srgbClr val="0F172A"/>
                </a:solidFill>
                <a:latin typeface="Space Grotesk"/>
                <a:ea typeface="Space Grotesk"/>
                <a:cs typeface="Space Grotesk"/>
                <a:sym typeface="Space Grotesk"/>
              </a:rPr>
              <a:t>The Functional Roles of SFT and RAG</a:t>
            </a:r>
            <a:endParaRPr b="1" sz="2220">
              <a:solidFill>
                <a:srgbClr val="0F172A"/>
              </a:solidFill>
              <a:latin typeface="Space Grotesk"/>
              <a:ea typeface="Space Grotesk"/>
              <a:cs typeface="Space Grotesk"/>
              <a:sym typeface="Space Grotesk"/>
            </a:endParaRPr>
          </a:p>
        </p:txBody>
      </p:sp>
      <p:sp>
        <p:nvSpPr>
          <p:cNvPr id="118" name="Google Shape;118;p15"/>
          <p:cNvSpPr txBox="1"/>
          <p:nvPr/>
        </p:nvSpPr>
        <p:spPr>
          <a:xfrm>
            <a:off x="1162050" y="1352550"/>
            <a:ext cx="4572000" cy="261600"/>
          </a:xfrm>
          <a:prstGeom prst="rect">
            <a:avLst/>
          </a:prstGeom>
          <a:solidFill>
            <a:srgbClr val="000000">
              <a:alpha val="0"/>
            </a:srgbClr>
          </a:solidFill>
          <a:ln>
            <a:noFill/>
          </a:ln>
        </p:spPr>
        <p:txBody>
          <a:bodyPr anchorCtr="0" anchor="ctr" bIns="0" lIns="0" spcFirstLastPara="1" rIns="0" wrap="square" tIns="0">
            <a:spAutoFit/>
          </a:bodyPr>
          <a:lstStyle/>
          <a:p>
            <a:r>
              <a:rPr sz="1700" b="1">
                <a:solidFill>
                  <a:srgbClr val="0F172A"/>
                </a:solidFill>
                <a:latin typeface="Space Grotesk"/>
              </a:rPr>
              <a:t>Supervised Fine-Tuning (SFT)</a:t>
            </a:r>
          </a:p>
        </p:txBody>
      </p:sp>
      <p:sp>
        <p:nvSpPr>
          <p:cNvPr id="119" name="Google Shape;119;p15"/>
          <p:cNvSpPr txBox="1"/>
          <p:nvPr/>
        </p:nvSpPr>
        <p:spPr>
          <a:xfrm>
            <a:off x="838200" y="1714500"/>
            <a:ext cx="4857900" cy="192300"/>
          </a:xfrm>
          <a:prstGeom prst="rect">
            <a:avLst/>
          </a:prstGeom>
          <a:solidFill>
            <a:srgbClr val="000000">
              <a:alpha val="0"/>
            </a:srgbClr>
          </a:solidFill>
          <a:ln>
            <a:noFill/>
          </a:ln>
        </p:spPr>
        <p:txBody>
          <a:bodyPr anchorCtr="0" anchor="ctr" bIns="0" lIns="0" spcFirstLastPara="1" rIns="0" wrap="square" tIns="0">
            <a:spAutoFit/>
          </a:bodyPr>
          <a:lstStyle/>
          <a:p>
            <a:r>
              <a:rPr sz="1250" b="1">
                <a:solidFill>
                  <a:srgbClr val="0284C7"/>
                </a:solidFill>
                <a:latin typeface="Inter"/>
              </a:rPr>
              <a:t>Deterministic Schema &amp; Jurisdiction Logic</a:t>
            </a:r>
          </a:p>
        </p:txBody>
      </p:sp>
      <p:sp>
        <p:nvSpPr>
          <p:cNvPr id="120" name="Google Shape;120;p15"/>
          <p:cNvSpPr txBox="1"/>
          <p:nvPr/>
        </p:nvSpPr>
        <p:spPr>
          <a:xfrm>
            <a:off x="6762750" y="1352550"/>
            <a:ext cx="4572000" cy="261600"/>
          </a:xfrm>
          <a:prstGeom prst="rect">
            <a:avLst/>
          </a:prstGeom>
          <a:solidFill>
            <a:srgbClr val="000000">
              <a:alpha val="0"/>
            </a:srgbClr>
          </a:solidFill>
          <a:ln>
            <a:noFill/>
          </a:ln>
        </p:spPr>
        <p:txBody>
          <a:bodyPr anchorCtr="0" anchor="ctr" bIns="0" lIns="0" spcFirstLastPara="1" rIns="0" wrap="square" tIns="0">
            <a:spAutoFit/>
          </a:bodyPr>
          <a:lstStyle/>
          <a:p>
            <a:r>
              <a:rPr sz="1700" b="1">
                <a:solidFill>
                  <a:srgbClr val="0F172A"/>
                </a:solidFill>
                <a:latin typeface="Space Grotesk"/>
              </a:rPr>
              <a:t>Retrieval-Augmented Generation (RAG)</a:t>
            </a:r>
          </a:p>
        </p:txBody>
      </p:sp>
      <p:sp>
        <p:nvSpPr>
          <p:cNvPr id="121" name="Google Shape;121;p15"/>
          <p:cNvSpPr txBox="1"/>
          <p:nvPr/>
        </p:nvSpPr>
        <p:spPr>
          <a:xfrm>
            <a:off x="6477000" y="1714500"/>
            <a:ext cx="4857900" cy="192300"/>
          </a:xfrm>
          <a:prstGeom prst="rect">
            <a:avLst/>
          </a:prstGeom>
          <a:solidFill>
            <a:srgbClr val="000000">
              <a:alpha val="0"/>
            </a:srgbClr>
          </a:solidFill>
          <a:ln>
            <a:noFill/>
          </a:ln>
        </p:spPr>
        <p:txBody>
          <a:bodyPr anchorCtr="0" anchor="ctr" bIns="0" lIns="0" spcFirstLastPara="1" rIns="0" wrap="square" tIns="0">
            <a:spAutoFit/>
          </a:bodyPr>
          <a:lstStyle/>
          <a:p>
            <a:r>
              <a:rPr sz="1250" b="1">
                <a:solidFill>
                  <a:srgbClr val="059669"/>
                </a:solidFill>
                <a:latin typeface="Inter"/>
              </a:rPr>
              <a:t>Statutory Grounding &amp; Verifiable Citations</a:t>
            </a:r>
          </a:p>
        </p:txBody>
      </p:sp>
      <p:sp>
        <p:nvSpPr>
          <p:cNvPr id="122" name="Google Shape;122;p15"/>
          <p:cNvSpPr txBox="1"/>
          <p:nvPr/>
        </p:nvSpPr>
        <p:spPr>
          <a:xfrm>
            <a:off x="838200" y="2047875"/>
            <a:ext cx="4857900" cy="746400"/>
          </a:xfrm>
          <a:prstGeom prst="rect">
            <a:avLst/>
          </a:prstGeom>
          <a:solidFill>
            <a:srgbClr val="000000">
              <a:alpha val="0"/>
            </a:srgbClr>
          </a:solidFill>
          <a:ln>
            <a:noFill/>
          </a:ln>
        </p:spPr>
        <p:txBody>
          <a:bodyPr anchorCtr="0" anchor="t" bIns="0" lIns="0" spcFirstLastPara="1" rIns="0" wrap="square" tIns="0">
            <a:spAutoFit/>
          </a:bodyPr>
          <a:lstStyle/>
          <a:p>
            <a:r>
              <a:t>• Structure Enforcement: Strict JSON schemas without markdown fences.</a:t>
            </a:r>
          </a:p>
          <a:p>
            <a:r>
              <a:t>• Mathematical Rigour: Turnaround &amp; meal penalty delta calculations.</a:t>
            </a:r>
          </a:p>
          <a:p>
            <a:r>
              <a:t>• Zero Prompt-Bloat: Internalizes union logic without prompt stuffing.</a:t>
            </a:r>
          </a:p>
        </p:txBody>
      </p:sp>
      <p:sp>
        <p:nvSpPr>
          <p:cNvPr id="123" name="Google Shape;123;p15"/>
          <p:cNvSpPr txBox="1"/>
          <p:nvPr/>
        </p:nvSpPr>
        <p:spPr>
          <a:xfrm>
            <a:off x="6477000" y="2047875"/>
            <a:ext cx="4857900" cy="746400"/>
          </a:xfrm>
          <a:prstGeom prst="rect">
            <a:avLst/>
          </a:prstGeom>
          <a:solidFill>
            <a:srgbClr val="000000">
              <a:alpha val="0"/>
            </a:srgbClr>
          </a:solidFill>
          <a:ln>
            <a:noFill/>
          </a:ln>
        </p:spPr>
        <p:txBody>
          <a:bodyPr anchorCtr="0" anchor="t" bIns="0" lIns="0" spcFirstLastPara="1" rIns="0" wrap="square" tIns="0">
            <a:spAutoFit/>
          </a:bodyPr>
          <a:lstStyle/>
          <a:p>
            <a:r>
              <a:t>• Clause Grounding: Direct contract excerpts from 2025–2028 CBAs.</a:t>
            </a:r>
          </a:p>
          <a:p>
            <a:r>
              <a:t>• Evidence Provenance: Cites exact Article #s, section titles, and page numbers.</a:t>
            </a:r>
          </a:p>
          <a:p>
            <a:r>
              <a:t>• Dynamic Adaptability: Ingests annual rate &amp; rule changes without retraining.</a:t>
            </a:r>
          </a:p>
        </p:txBody>
      </p:sp>
      <p:grpSp>
        <p:nvGrpSpPr>
          <p:cNvPr id="124" name="Google Shape;124;p15"/>
          <p:cNvGrpSpPr/>
          <p:nvPr/>
        </p:nvGrpSpPr>
        <p:grpSpPr>
          <a:xfrm>
            <a:off x="609600" y="3857625"/>
            <a:ext cx="5334000" cy="2476500"/>
            <a:chOff x="0" y="0"/>
            <a:chExt cx="5334000" cy="2476500"/>
          </a:xfrm>
        </p:grpSpPr>
        <p:sp>
          <p:nvSpPr>
            <p:cNvPr id="125" name="Google Shape;125;p15"/>
            <p:cNvSpPr/>
            <p:nvPr/>
          </p:nvSpPr>
          <p:spPr>
            <a:xfrm>
              <a:off x="0" y="0"/>
              <a:ext cx="5334000" cy="2476500"/>
            </a:xfrm>
            <a:prstGeom prst="roundRect">
              <a:avLst>
                <a:gd fmla="val 4615"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5"/>
            <p:cNvSpPr txBox="1"/>
            <p:nvPr/>
          </p:nvSpPr>
          <p:spPr>
            <a:xfrm>
              <a:off x="228600" y="152400"/>
              <a:ext cx="48768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38BDF8"/>
                  </a:solidFill>
                  <a:latin typeface="Space Grotesk"/>
                  <a:ea typeface="Space Grotesk"/>
                  <a:cs typeface="Space Grotesk"/>
                  <a:sym typeface="Space Grotesk"/>
                </a:rPr>
                <a:t>SCHEMA SPECIFICATION · LANGGRAPH STATE SCHEMA</a:t>
              </a:r>
              <a:endParaRPr b="1" sz="950">
                <a:solidFill>
                  <a:srgbClr val="38BDF8"/>
                </a:solidFill>
                <a:latin typeface="Space Grotesk"/>
                <a:ea typeface="Space Grotesk"/>
                <a:cs typeface="Space Grotesk"/>
                <a:sym typeface="Space Grotesk"/>
              </a:endParaRPr>
            </a:p>
          </p:txBody>
        </p:sp>
      </p:grpSp>
      <p:grpSp>
        <p:nvGrpSpPr>
          <p:cNvPr id="127" name="Google Shape;127;p15"/>
          <p:cNvGrpSpPr/>
          <p:nvPr/>
        </p:nvGrpSpPr>
        <p:grpSpPr>
          <a:xfrm>
            <a:off x="6248400" y="3857625"/>
            <a:ext cx="5334000" cy="2476500"/>
            <a:chOff x="0" y="0"/>
            <a:chExt cx="5334000" cy="2476500"/>
          </a:xfrm>
        </p:grpSpPr>
        <p:sp>
          <p:nvSpPr>
            <p:cNvPr id="128" name="Google Shape;128;p15"/>
            <p:cNvSpPr/>
            <p:nvPr/>
          </p:nvSpPr>
          <p:spPr>
            <a:xfrm>
              <a:off x="0" y="0"/>
              <a:ext cx="5334000" cy="2476500"/>
            </a:xfrm>
            <a:prstGeom prst="roundRect">
              <a:avLst>
                <a:gd fmla="val 4615"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5"/>
            <p:cNvSpPr txBox="1"/>
            <p:nvPr/>
          </p:nvSpPr>
          <p:spPr>
            <a:xfrm>
              <a:off x="228600" y="152400"/>
              <a:ext cx="48768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34D399"/>
                  </a:solidFill>
                  <a:latin typeface="Space Grotesk"/>
                  <a:ea typeface="Space Grotesk"/>
                  <a:cs typeface="Space Grotesk"/>
                  <a:sym typeface="Space Grotesk"/>
                </a:rPr>
                <a:t>VERIFICATION MECHANISM · GROUNDED CITATION ENGINE</a:t>
              </a:r>
              <a:endParaRPr b="1" sz="950">
                <a:solidFill>
                  <a:srgbClr val="34D399"/>
                </a:solidFill>
                <a:latin typeface="Space Grotesk"/>
                <a:ea typeface="Space Grotesk"/>
                <a:cs typeface="Space Grotesk"/>
                <a:sym typeface="Space Grotesk"/>
              </a:endParaRPr>
            </a:p>
          </p:txBody>
        </p:sp>
        <p:sp>
          <p:nvSpPr>
            <p:cNvPr id="130" name="Google Shape;130;p15"/>
            <p:cNvSpPr txBox="1"/>
            <p:nvPr/>
          </p:nvSpPr>
          <p:spPr>
            <a:xfrm>
              <a:off x="228600" y="495300"/>
              <a:ext cx="4876800" cy="176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F8FAFC"/>
                  </a:solidFill>
                  <a:latin typeface="Inter"/>
                  <a:ea typeface="Inter"/>
                  <a:cs typeface="Inter"/>
                  <a:sym typeface="Inter"/>
                </a:rPr>
                <a:t>100% Deterministic Grounding</a:t>
              </a:r>
              <a:endParaRPr b="1" sz="1200">
                <a:solidFill>
                  <a:srgbClr val="F8FAFC"/>
                </a:solidFill>
                <a:latin typeface="Inter"/>
                <a:ea typeface="Inter"/>
                <a:cs typeface="Inter"/>
                <a:sym typeface="Inter"/>
              </a:endParaRPr>
            </a:p>
            <a:p>
              <a:pPr indent="0" lvl="0" marL="0" rtl="0" algn="l">
                <a:spcBef>
                  <a:spcPts val="300"/>
                </a:spcBef>
                <a:spcAft>
                  <a:spcPts val="0"/>
                </a:spcAft>
                <a:buNone/>
              </a:pPr>
              <a:r>
                <a:rPr lang="en-US" sz="1050">
                  <a:solidFill>
                    <a:srgbClr val="94A3B8"/>
                  </a:solidFill>
                  <a:latin typeface="Inter"/>
                  <a:ea typeface="Inter"/>
                  <a:cs typeface="Inter"/>
                  <a:sym typeface="Inter"/>
                </a:rPr>
                <a:t>Cross-references generated compliance rules directly against indexed CBA contract clauses.</a:t>
              </a:r>
              <a:endParaRPr sz="1050">
                <a:solidFill>
                  <a:srgbClr val="94A3B8"/>
                </a:solidFill>
                <a:latin typeface="Inter"/>
                <a:ea typeface="Inter"/>
                <a:cs typeface="Inter"/>
                <a:sym typeface="Inter"/>
              </a:endParaRPr>
            </a:p>
            <a:p>
              <a:pPr indent="0" lvl="0" marL="0" rtl="0" algn="l">
                <a:spcBef>
                  <a:spcPts val="0"/>
                </a:spcBef>
                <a:spcAft>
                  <a:spcPts val="0"/>
                </a:spcAft>
                <a:buNone/>
              </a:pPr>
              <a:r>
                <a:rPr b="1" lang="en-US" sz="1200">
                  <a:solidFill>
                    <a:srgbClr val="F8FAFC"/>
                  </a:solidFill>
                  <a:latin typeface="Inter"/>
                  <a:ea typeface="Inter"/>
                  <a:cs typeface="Inter"/>
                  <a:sym typeface="Inter"/>
                </a:rPr>
                <a:t>Dynamic Provision Ingestion</a:t>
              </a:r>
              <a:endParaRPr b="1" sz="1200">
                <a:solidFill>
                  <a:srgbClr val="F8FAFC"/>
                </a:solidFill>
                <a:latin typeface="Inter"/>
                <a:ea typeface="Inter"/>
                <a:cs typeface="Inter"/>
                <a:sym typeface="Inter"/>
              </a:endParaRPr>
            </a:p>
            <a:p>
              <a:pPr indent="0" lvl="0" marL="0" rtl="0" algn="l">
                <a:spcBef>
                  <a:spcPts val="300"/>
                </a:spcBef>
                <a:spcAft>
                  <a:spcPts val="0"/>
                </a:spcAft>
                <a:buNone/>
              </a:pPr>
              <a:r>
                <a:rPr lang="en-US" sz="1050">
                  <a:solidFill>
                    <a:srgbClr val="94A3B8"/>
                  </a:solidFill>
                  <a:latin typeface="Inter"/>
                  <a:ea typeface="Inter"/>
                  <a:cs typeface="Inter"/>
                  <a:sym typeface="Inter"/>
                </a:rPr>
                <a:t>Instantly updates compliance logic as union agreements evolve, eliminating retraining latency.</a:t>
              </a:r>
              <a:endParaRPr sz="1050">
                <a:solidFill>
                  <a:srgbClr val="94A3B8"/>
                </a:solidFill>
                <a:latin typeface="Inter"/>
                <a:ea typeface="Inter"/>
                <a:cs typeface="Inter"/>
                <a:sym typeface="Inter"/>
              </a:endParaRPr>
            </a:p>
          </p:txBody>
        </p:sp>
      </p:grpSp>
      <p:pic>
        <p:nvPicPr>
          <p:cNvPr id="131" name="Google Shape;131;p15"/>
          <p:cNvPicPr preferRelativeResize="0"/>
          <p:nvPr/>
        </p:nvPicPr>
        <p:blipFill rotWithShape="1">
          <a:blip r:embed="rId5">
            <a:alphaModFix/>
          </a:blip>
          <a:srcRect b="1597" l="0" r="0" t="1597"/>
          <a:stretch/>
        </p:blipFill>
        <p:spPr>
          <a:xfrm>
            <a:off x="838200" y="4286250"/>
            <a:ext cx="4876800" cy="1905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16"/>
          <p:cNvSpPr/>
          <p:nvPr/>
        </p:nvSpPr>
        <p:spPr>
          <a:xfrm>
            <a:off x="609600" y="3914775"/>
            <a:ext cx="10972800" cy="879871"/>
          </a:xfrm>
          <a:prstGeom prst="roundRect">
            <a:avLst>
              <a:gd fmla="val 866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6"/>
          <p:cNvSpPr/>
          <p:nvPr/>
        </p:nvSpPr>
        <p:spPr>
          <a:xfrm>
            <a:off x="609600" y="2495550"/>
            <a:ext cx="2628900" cy="1114425"/>
          </a:xfrm>
          <a:prstGeom prst="roundRect">
            <a:avLst>
              <a:gd fmla="val 6837"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6"/>
          <p:cNvSpPr/>
          <p:nvPr/>
        </p:nvSpPr>
        <p:spPr>
          <a:xfrm>
            <a:off x="3390900" y="2495550"/>
            <a:ext cx="2628900" cy="1114425"/>
          </a:xfrm>
          <a:prstGeom prst="roundRect">
            <a:avLst>
              <a:gd fmla="val 6837"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6"/>
          <p:cNvSpPr/>
          <p:nvPr/>
        </p:nvSpPr>
        <p:spPr>
          <a:xfrm>
            <a:off x="6172200" y="2495550"/>
            <a:ext cx="2628900" cy="1114425"/>
          </a:xfrm>
          <a:prstGeom prst="roundRect">
            <a:avLst>
              <a:gd fmla="val 6837"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16"/>
          <p:cNvSpPr/>
          <p:nvPr/>
        </p:nvSpPr>
        <p:spPr>
          <a:xfrm>
            <a:off x="8953500" y="2495550"/>
            <a:ext cx="2628900" cy="1114425"/>
          </a:xfrm>
          <a:prstGeom prst="roundRect">
            <a:avLst>
              <a:gd fmla="val 6837"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6"/>
          <p:cNvSpPr txBox="1"/>
          <p:nvPr/>
        </p:nvSpPr>
        <p:spPr>
          <a:xfrm>
            <a:off x="609600" y="457200"/>
            <a:ext cx="115824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Inter"/>
                <a:ea typeface="Inter"/>
                <a:cs typeface="Inter"/>
                <a:sym typeface="Inter"/>
              </a:rPr>
              <a:t>KNOWLEDGE BASE INGESTION</a:t>
            </a:r>
            <a:endParaRPr/>
          </a:p>
        </p:txBody>
      </p:sp>
      <p:sp>
        <p:nvSpPr>
          <p:cNvPr id="142" name="Google Shape;142;p16"/>
          <p:cNvSpPr txBox="1"/>
          <p:nvPr/>
        </p:nvSpPr>
        <p:spPr>
          <a:xfrm>
            <a:off x="609600" y="695325"/>
            <a:ext cx="11582400" cy="36567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0F172A"/>
                </a:solidFill>
                <a:latin typeface="Space Grotesk"/>
                <a:ea typeface="Space Grotesk"/>
                <a:cs typeface="Space Grotesk"/>
                <a:sym typeface="Space Grotesk"/>
              </a:rPr>
              <a:t>Indexed Primary Legal Sources</a:t>
            </a:r>
            <a:endParaRPr/>
          </a:p>
        </p:txBody>
      </p:sp>
      <p:sp>
        <p:nvSpPr>
          <p:cNvPr id="143" name="Google Shape;143;p16"/>
          <p:cNvSpPr txBox="1"/>
          <p:nvPr/>
        </p:nvSpPr>
        <p:spPr>
          <a:xfrm>
            <a:off x="809625" y="4114800"/>
            <a:ext cx="10668000" cy="479821"/>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34155"/>
                </a:solidFill>
                <a:latin typeface="Inter"/>
                <a:ea typeface="Inter"/>
                <a:cs typeface="Inter"/>
                <a:sym typeface="Inter"/>
              </a:rPr>
              <a:t>Coverage:</a:t>
            </a:r>
            <a:r>
              <a:rPr b="0" i="0" lang="en-US" sz="1350" u="none" cap="none" strike="noStrike">
                <a:solidFill>
                  <a:srgbClr val="334155"/>
                </a:solidFill>
                <a:latin typeface="Inter"/>
                <a:ea typeface="Inter"/>
                <a:cs typeface="Inter"/>
                <a:sym typeface="Inter"/>
              </a:rPr>
              <a:t> BCCFU Master Agreement (IATSE 891, Teamsters 155), DGC BC Agreement, UBCP/ACTRA BCMPA, BC Employment Standards Act (ESA), and Actsafe Safety Primers.</a:t>
            </a:r>
            <a:endParaRPr/>
          </a:p>
        </p:txBody>
      </p:sp>
      <p:sp>
        <p:nvSpPr>
          <p:cNvPr id="144" name="Google Shape;144;p16"/>
          <p:cNvSpPr txBox="1"/>
          <p:nvPr/>
        </p:nvSpPr>
        <p:spPr>
          <a:xfrm>
            <a:off x="471487" y="2647950"/>
            <a:ext cx="2905125" cy="581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600" u="none" cap="none" strike="noStrike">
                <a:solidFill>
                  <a:srgbClr val="0284C7"/>
                </a:solidFill>
                <a:latin typeface="Space Grotesk"/>
                <a:ea typeface="Space Grotesk"/>
                <a:cs typeface="Space Grotesk"/>
                <a:sym typeface="Space Grotesk"/>
              </a:rPr>
              <a:t>6</a:t>
            </a:r>
            <a:endParaRPr/>
          </a:p>
        </p:txBody>
      </p:sp>
      <p:sp>
        <p:nvSpPr>
          <p:cNvPr id="145" name="Google Shape;145;p16"/>
          <p:cNvSpPr txBox="1"/>
          <p:nvPr/>
        </p:nvSpPr>
        <p:spPr>
          <a:xfrm>
            <a:off x="471487" y="3267075"/>
            <a:ext cx="2905125" cy="190500"/>
          </a:xfrm>
          <a:prstGeom prst="rect">
            <a:avLst/>
          </a:prstGeom>
          <a:noFill/>
          <a:ln>
            <a:noFill/>
          </a:ln>
        </p:spPr>
        <p:txBody>
          <a:bodyPr anchorCtr="0" anchor="t" bIns="0" lIns="0" spcFirstLastPara="1" rIns="0" wrap="square" tIns="0">
            <a:spAutoFit/>
          </a:bodyPr>
          <a:lstStyle/>
          <a:p>
            <a:r>
              <a:rPr sz="1200" b="0" i="0">
                <a:solidFill>
                  <a:srgbClr val="64748B"/>
                </a:solidFill>
                <a:latin typeface="Inter"/>
              </a:rPr>
              <a:t>Primary Acts &amp; CBAs (&gt;95% Crew Coverage)</a:t>
            </a:r>
          </a:p>
        </p:txBody>
      </p:sp>
      <p:sp>
        <p:nvSpPr>
          <p:cNvPr id="146" name="Google Shape;146;p16"/>
          <p:cNvSpPr txBox="1"/>
          <p:nvPr/>
        </p:nvSpPr>
        <p:spPr>
          <a:xfrm>
            <a:off x="3252787" y="2647950"/>
            <a:ext cx="2905125" cy="581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600" u="none" cap="none" strike="noStrike">
                <a:solidFill>
                  <a:srgbClr val="0284C7"/>
                </a:solidFill>
                <a:latin typeface="Space Grotesk"/>
                <a:ea typeface="Space Grotesk"/>
                <a:cs typeface="Space Grotesk"/>
                <a:sym typeface="Space Grotesk"/>
              </a:rPr>
              <a:t>817</a:t>
            </a:r>
            <a:endParaRPr/>
          </a:p>
        </p:txBody>
      </p:sp>
      <p:sp>
        <p:nvSpPr>
          <p:cNvPr id="147" name="Google Shape;147;p16"/>
          <p:cNvSpPr txBox="1"/>
          <p:nvPr/>
        </p:nvSpPr>
        <p:spPr>
          <a:xfrm>
            <a:off x="3252787" y="3267075"/>
            <a:ext cx="2905125" cy="190500"/>
          </a:xfrm>
          <a:prstGeom prst="rect">
            <a:avLst/>
          </a:prstGeom>
          <a:noFill/>
          <a:ln>
            <a:noFill/>
          </a:ln>
        </p:spPr>
        <p:txBody>
          <a:bodyPr anchorCtr="0" anchor="t" bIns="0" lIns="0" spcFirstLastPara="1" rIns="0" wrap="square" tIns="0">
            <a:spAutoFit/>
          </a:bodyPr>
          <a:lstStyle/>
          <a:p>
            <a:r>
              <a:rPr sz="1200" b="0" i="0">
                <a:solidFill>
                  <a:srgbClr val="64748B"/>
                </a:solidFill>
                <a:latin typeface="Inter"/>
              </a:rPr>
              <a:t>Total Ingested Pages (817 Pages)</a:t>
            </a:r>
          </a:p>
        </p:txBody>
      </p:sp>
      <p:sp>
        <p:nvSpPr>
          <p:cNvPr id="148" name="Google Shape;148;p16"/>
          <p:cNvSpPr txBox="1"/>
          <p:nvPr/>
        </p:nvSpPr>
        <p:spPr>
          <a:xfrm>
            <a:off x="6034087" y="2647950"/>
            <a:ext cx="2905125" cy="581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600" u="none" cap="none" strike="noStrike">
                <a:solidFill>
                  <a:srgbClr val="0284C7"/>
                </a:solidFill>
                <a:latin typeface="Space Grotesk"/>
                <a:ea typeface="Space Grotesk"/>
                <a:cs typeface="Space Grotesk"/>
                <a:sym typeface="Space Grotesk"/>
              </a:rPr>
              <a:t>2,888</a:t>
            </a:r>
            <a:endParaRPr/>
          </a:p>
        </p:txBody>
      </p:sp>
      <p:sp>
        <p:nvSpPr>
          <p:cNvPr id="149" name="Google Shape;149;p16"/>
          <p:cNvSpPr txBox="1"/>
          <p:nvPr/>
        </p:nvSpPr>
        <p:spPr>
          <a:xfrm>
            <a:off x="6034087" y="3267075"/>
            <a:ext cx="2905125" cy="190500"/>
          </a:xfrm>
          <a:prstGeom prst="rect">
            <a:avLst/>
          </a:prstGeom>
          <a:noFill/>
          <a:ln>
            <a:noFill/>
          </a:ln>
        </p:spPr>
        <p:txBody>
          <a:bodyPr anchorCtr="0" anchor="t" bIns="0" lIns="0" spcFirstLastPara="1" rIns="0" wrap="square" tIns="0">
            <a:spAutoFit/>
          </a:bodyPr>
          <a:lstStyle/>
          <a:p>
            <a:r>
              <a:rPr sz="1200" b="0" i="0">
                <a:solidFill>
                  <a:srgbClr val="64748B"/>
                </a:solidFill>
                <a:latin typeface="Inter"/>
              </a:rPr>
              <a:t>Indexed Chunks (850 Chars / 150 Overlap)</a:t>
            </a:r>
          </a:p>
        </p:txBody>
      </p:sp>
      <p:sp>
        <p:nvSpPr>
          <p:cNvPr id="150" name="Google Shape;150;p16"/>
          <p:cNvSpPr txBox="1"/>
          <p:nvPr/>
        </p:nvSpPr>
        <p:spPr>
          <a:xfrm>
            <a:off x="8815387" y="2647950"/>
            <a:ext cx="2905125" cy="581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600" u="none" cap="none" strike="noStrike">
                <a:solidFill>
                  <a:srgbClr val="0284C7"/>
                </a:solidFill>
                <a:latin typeface="Space Grotesk"/>
                <a:ea typeface="Space Grotesk"/>
                <a:cs typeface="Space Grotesk"/>
                <a:sym typeface="Space Grotesk"/>
              </a:rPr>
              <a:t>1.82M</a:t>
            </a:r>
            <a:endParaRPr/>
          </a:p>
        </p:txBody>
      </p:sp>
      <p:sp>
        <p:nvSpPr>
          <p:cNvPr id="151" name="Google Shape;151;p16"/>
          <p:cNvSpPr txBox="1"/>
          <p:nvPr/>
        </p:nvSpPr>
        <p:spPr>
          <a:xfrm>
            <a:off x="8815387" y="3267075"/>
            <a:ext cx="2905125" cy="190500"/>
          </a:xfrm>
          <a:prstGeom prst="rect">
            <a:avLst/>
          </a:prstGeom>
          <a:noFill/>
          <a:ln>
            <a:noFill/>
          </a:ln>
        </p:spPr>
        <p:txBody>
          <a:bodyPr anchorCtr="0" anchor="t" bIns="0" lIns="0" spcFirstLastPara="1" rIns="0" wrap="square" tIns="0">
            <a:spAutoFit/>
          </a:bodyPr>
          <a:lstStyle/>
          <a:p>
            <a:r>
              <a:rPr sz="1200" b="0" i="0">
                <a:solidFill>
                  <a:srgbClr val="64748B"/>
                </a:solidFill>
                <a:latin typeface="Inter"/>
              </a:rPr>
              <a:t>Corpus Characters (1.82M Chars)</a:t>
            </a:r>
          </a:p>
        </p:txBody>
      </p:sp>
      <p:sp>
        <p:nvSpPr>
          <p:cNvPr id="152" name="Google Shape;152;p16"/>
          <p:cNvSpPr/>
          <p:nvPr/>
        </p:nvSpPr>
        <p:spPr>
          <a:xfrm>
            <a:off x="8915400" y="514350"/>
            <a:ext cx="2667000" cy="324000"/>
          </a:xfrm>
          <a:prstGeom prst="roundRect">
            <a:avLst>
              <a:gd fmla="val 1764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6"/>
          <p:cNvSpPr txBox="1"/>
          <p:nvPr/>
        </p:nvSpPr>
        <p:spPr>
          <a:xfrm>
            <a:off x="8915400" y="514350"/>
            <a:ext cx="26670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lang="en-US" sz="950">
                <a:solidFill>
                  <a:srgbClr val="475569"/>
                </a:solidFill>
                <a:latin typeface="Inter Medium"/>
                <a:ea typeface="Inter Medium"/>
                <a:cs typeface="Inter Medium"/>
                <a:sym typeface="Inter Medium"/>
              </a:rPr>
              <a:t>build_vectorstore</a:t>
            </a:r>
            <a:r>
              <a:rPr lang="en-US" sz="950">
                <a:solidFill>
                  <a:srgbClr val="475569"/>
                </a:solidFill>
                <a:latin typeface="Inter Medium"/>
                <a:ea typeface="Inter Medium"/>
                <a:cs typeface="Inter Medium"/>
                <a:sym typeface="Inter Medium"/>
              </a:rPr>
              <a:t>.py</a:t>
            </a:r>
            <a:endParaRPr b="0" i="0" sz="950">
              <a:solidFill>
                <a:srgbClr val="475569"/>
              </a:solidFill>
              <a:latin typeface="Inter Medium"/>
              <a:ea typeface="Inter Medium"/>
              <a:cs typeface="Inter Medium"/>
              <a:sym typeface="Inter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17"/>
          <p:cNvSpPr/>
          <p:nvPr/>
        </p:nvSpPr>
        <p:spPr>
          <a:xfrm>
            <a:off x="609600" y="1381125"/>
            <a:ext cx="3505200" cy="2047800"/>
          </a:xfrm>
          <a:prstGeom prst="roundRect">
            <a:avLst>
              <a:gd fmla="val 558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7"/>
          <p:cNvSpPr/>
          <p:nvPr/>
        </p:nvSpPr>
        <p:spPr>
          <a:xfrm>
            <a:off x="4343400" y="1381125"/>
            <a:ext cx="3505200" cy="2047800"/>
          </a:xfrm>
          <a:prstGeom prst="roundRect">
            <a:avLst>
              <a:gd fmla="val 558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7"/>
          <p:cNvSpPr/>
          <p:nvPr/>
        </p:nvSpPr>
        <p:spPr>
          <a:xfrm>
            <a:off x="8077200" y="1381125"/>
            <a:ext cx="3505200" cy="2047800"/>
          </a:xfrm>
          <a:prstGeom prst="roundRect">
            <a:avLst>
              <a:gd fmla="val 558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 name="Google Shape;161;p17"/>
          <p:cNvSpPr txBox="1"/>
          <p:nvPr/>
        </p:nvSpPr>
        <p:spPr>
          <a:xfrm>
            <a:off x="609600" y="457200"/>
            <a:ext cx="115824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050">
                <a:solidFill>
                  <a:srgbClr val="0284C7"/>
                </a:solidFill>
                <a:latin typeface="Inter"/>
                <a:ea typeface="Inter"/>
                <a:cs typeface="Inter"/>
                <a:sym typeface="Inter"/>
              </a:rPr>
              <a:t>DATA RIGOUR</a:t>
            </a:r>
            <a:endParaRPr b="1" sz="1050">
              <a:solidFill>
                <a:srgbClr val="0284C7"/>
              </a:solidFill>
              <a:latin typeface="Inter"/>
              <a:ea typeface="Inter"/>
              <a:cs typeface="Inter"/>
              <a:sym typeface="Inter"/>
            </a:endParaRPr>
          </a:p>
        </p:txBody>
      </p:sp>
      <p:sp>
        <p:nvSpPr>
          <p:cNvPr id="162" name="Google Shape;162;p17"/>
          <p:cNvSpPr txBox="1"/>
          <p:nvPr/>
        </p:nvSpPr>
        <p:spPr>
          <a:xfrm>
            <a:off x="609600" y="695325"/>
            <a:ext cx="11582400" cy="34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220">
                <a:solidFill>
                  <a:srgbClr val="0F172A"/>
                </a:solidFill>
                <a:latin typeface="Space Grotesk"/>
                <a:ea typeface="Space Grotesk"/>
                <a:cs typeface="Space Grotesk"/>
                <a:sym typeface="Space Grotesk"/>
              </a:rPr>
              <a:t>Split Design &amp; Anti-Leakage Protocol</a:t>
            </a:r>
            <a:endParaRPr b="1" sz="2220">
              <a:solidFill>
                <a:srgbClr val="0F172A"/>
              </a:solidFill>
              <a:latin typeface="Space Grotesk"/>
              <a:ea typeface="Space Grotesk"/>
              <a:cs typeface="Space Grotesk"/>
              <a:sym typeface="Space Grotesk"/>
            </a:endParaRPr>
          </a:p>
        </p:txBody>
      </p:sp>
      <p:sp>
        <p:nvSpPr>
          <p:cNvPr id="163" name="Google Shape;163;p17"/>
          <p:cNvSpPr txBox="1"/>
          <p:nvPr/>
        </p:nvSpPr>
        <p:spPr>
          <a:xfrm>
            <a:off x="876300" y="1647825"/>
            <a:ext cx="2971800" cy="261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700">
                <a:solidFill>
                  <a:srgbClr val="0F172A"/>
                </a:solidFill>
                <a:latin typeface="Space Grotesk"/>
                <a:ea typeface="Space Grotesk"/>
                <a:cs typeface="Space Grotesk"/>
                <a:sym typeface="Space Grotesk"/>
              </a:rPr>
              <a:t>Strict 80 / 20 Partition</a:t>
            </a:r>
            <a:endParaRPr b="1" sz="1700">
              <a:solidFill>
                <a:srgbClr val="0F172A"/>
              </a:solidFill>
              <a:latin typeface="Space Grotesk"/>
              <a:ea typeface="Space Grotesk"/>
              <a:cs typeface="Space Grotesk"/>
              <a:sym typeface="Space Grotesk"/>
            </a:endParaRPr>
          </a:p>
        </p:txBody>
      </p:sp>
      <p:sp>
        <p:nvSpPr>
          <p:cNvPr id="164" name="Google Shape;164;p17"/>
          <p:cNvSpPr txBox="1"/>
          <p:nvPr/>
        </p:nvSpPr>
        <p:spPr>
          <a:xfrm>
            <a:off x="876300" y="2047875"/>
            <a:ext cx="2971800" cy="415500"/>
          </a:xfrm>
          <a:prstGeom prst="rect">
            <a:avLst/>
          </a:prstGeom>
          <a:solidFill>
            <a:srgbClr val="000000">
              <a:alpha val="0"/>
            </a:srgbClr>
          </a:solidFill>
          <a:ln>
            <a:noFill/>
          </a:ln>
        </p:spPr>
        <p:txBody>
          <a:bodyPr anchorCtr="0" anchor="t" bIns="0" lIns="0" spcFirstLastPara="1" rIns="0" wrap="square" tIns="0">
            <a:spAutoFit/>
          </a:bodyPr>
          <a:lstStyle/>
          <a:p>
            <a:r>
              <a:rPr sz="1350" b="0">
                <a:solidFill>
                  <a:srgbClr val="475569"/>
                </a:solidFill>
                <a:latin typeface="Inter"/>
              </a:rPr>
              <a:t>400 training samples, 100 held-out test pairs (80/20 split).</a:t>
            </a:r>
          </a:p>
        </p:txBody>
      </p:sp>
      <p:sp>
        <p:nvSpPr>
          <p:cNvPr id="165" name="Google Shape;165;p17"/>
          <p:cNvSpPr txBox="1"/>
          <p:nvPr/>
        </p:nvSpPr>
        <p:spPr>
          <a:xfrm>
            <a:off x="4610100" y="1647825"/>
            <a:ext cx="2971800" cy="261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700">
                <a:solidFill>
                  <a:srgbClr val="0F172A"/>
                </a:solidFill>
                <a:latin typeface="Space Grotesk"/>
                <a:ea typeface="Space Grotesk"/>
                <a:cs typeface="Space Grotesk"/>
                <a:sym typeface="Space Grotesk"/>
              </a:rPr>
              <a:t>Leakage Prevention</a:t>
            </a:r>
            <a:endParaRPr b="1" sz="1700">
              <a:solidFill>
                <a:srgbClr val="0F172A"/>
              </a:solidFill>
              <a:latin typeface="Space Grotesk"/>
              <a:ea typeface="Space Grotesk"/>
              <a:cs typeface="Space Grotesk"/>
              <a:sym typeface="Space Grotesk"/>
            </a:endParaRPr>
          </a:p>
        </p:txBody>
      </p:sp>
      <p:sp>
        <p:nvSpPr>
          <p:cNvPr id="166" name="Google Shape;166;p17"/>
          <p:cNvSpPr txBox="1"/>
          <p:nvPr/>
        </p:nvSpPr>
        <p:spPr>
          <a:xfrm>
            <a:off x="4610100" y="2047875"/>
            <a:ext cx="2971800" cy="415500"/>
          </a:xfrm>
          <a:prstGeom prst="rect">
            <a:avLst/>
          </a:prstGeom>
          <a:solidFill>
            <a:srgbClr val="000000">
              <a:alpha val="0"/>
            </a:srgbClr>
          </a:solidFill>
          <a:ln>
            <a:noFill/>
          </a:ln>
        </p:spPr>
        <p:txBody>
          <a:bodyPr anchorCtr="0" anchor="t" bIns="0" lIns="0" spcFirstLastPara="1" rIns="0" wrap="square" tIns="0">
            <a:spAutoFit/>
          </a:bodyPr>
          <a:lstStyle/>
          <a:p>
            <a:r>
              <a:rPr sz="1350" b="0">
                <a:solidFill>
                  <a:srgbClr val="475569"/>
                </a:solidFill>
                <a:latin typeface="Inter"/>
              </a:rPr>
              <a:t>Random seed 42, continuous parameter perturbation (shift, meal, rest hours).</a:t>
            </a:r>
          </a:p>
        </p:txBody>
      </p:sp>
      <p:sp>
        <p:nvSpPr>
          <p:cNvPr id="167" name="Google Shape;167;p17"/>
          <p:cNvSpPr txBox="1"/>
          <p:nvPr/>
        </p:nvSpPr>
        <p:spPr>
          <a:xfrm>
            <a:off x="8343900" y="1647825"/>
            <a:ext cx="2971800" cy="261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700">
                <a:solidFill>
                  <a:srgbClr val="0F172A"/>
                </a:solidFill>
                <a:latin typeface="Space Grotesk"/>
                <a:ea typeface="Space Grotesk"/>
                <a:cs typeface="Space Grotesk"/>
                <a:sym typeface="Space Grotesk"/>
              </a:rPr>
              <a:t>Diverse Prompting</a:t>
            </a:r>
            <a:endParaRPr b="1" sz="1700">
              <a:solidFill>
                <a:srgbClr val="0F172A"/>
              </a:solidFill>
              <a:latin typeface="Space Grotesk"/>
              <a:ea typeface="Space Grotesk"/>
              <a:cs typeface="Space Grotesk"/>
              <a:sym typeface="Space Grotesk"/>
            </a:endParaRPr>
          </a:p>
        </p:txBody>
      </p:sp>
      <p:sp>
        <p:nvSpPr>
          <p:cNvPr id="168" name="Google Shape;168;p17"/>
          <p:cNvSpPr txBox="1"/>
          <p:nvPr/>
        </p:nvSpPr>
        <p:spPr>
          <a:xfrm>
            <a:off x="8343900" y="2047875"/>
            <a:ext cx="2971800" cy="415500"/>
          </a:xfrm>
          <a:prstGeom prst="rect">
            <a:avLst/>
          </a:prstGeom>
          <a:solidFill>
            <a:srgbClr val="000000">
              <a:alpha val="0"/>
            </a:srgbClr>
          </a:solidFill>
          <a:ln>
            <a:noFill/>
          </a:ln>
        </p:spPr>
        <p:txBody>
          <a:bodyPr anchorCtr="0" anchor="t" bIns="0" lIns="0" spcFirstLastPara="1" rIns="0" wrap="square" tIns="0">
            <a:spAutoFit/>
          </a:bodyPr>
          <a:lstStyle/>
          <a:p>
            <a:r>
              <a:rPr sz="1350" b="0">
                <a:solidFill>
                  <a:srgbClr val="475569"/>
                </a:solidFill>
                <a:latin typeface="Inter"/>
              </a:rPr>
              <a:t>Diverse templates (formal timecards, call sheet notes, conversational reports).</a:t>
            </a:r>
          </a:p>
        </p:txBody>
      </p:sp>
      <p:sp>
        <p:nvSpPr>
          <p:cNvPr id="169" name="Google Shape;169;p17"/>
          <p:cNvSpPr/>
          <p:nvPr/>
        </p:nvSpPr>
        <p:spPr>
          <a:xfrm>
            <a:off x="609600" y="3714750"/>
            <a:ext cx="10972800" cy="2571900"/>
          </a:xfrm>
          <a:prstGeom prst="roundRect">
            <a:avLst>
              <a:gd fmla="val 4444"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7"/>
          <p:cNvSpPr txBox="1"/>
          <p:nvPr/>
        </p:nvSpPr>
        <p:spPr>
          <a:xfrm>
            <a:off x="914400" y="3952875"/>
            <a:ext cx="103632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50">
                <a:solidFill>
                  <a:srgbClr val="38BDF8"/>
                </a:solidFill>
                <a:latin typeface="Inter"/>
                <a:ea typeface="Inter"/>
                <a:cs typeface="Inter"/>
                <a:sym typeface="Inter"/>
              </a:rPr>
              <a:t>REST PERIOD EVALUATION FORMULA</a:t>
            </a:r>
            <a:endParaRPr b="1" sz="1050">
              <a:solidFill>
                <a:srgbClr val="38BDF8"/>
              </a:solidFill>
              <a:latin typeface="Inter"/>
              <a:ea typeface="Inter"/>
              <a:cs typeface="Inter"/>
              <a:sym typeface="Inter"/>
            </a:endParaRPr>
          </a:p>
        </p:txBody>
      </p:sp>
      <p:pic>
        <p:nvPicPr>
          <p:cNvPr id="171" name="Google Shape;171;p17"/>
          <p:cNvPicPr preferRelativeResize="0"/>
          <p:nvPr/>
        </p:nvPicPr>
        <p:blipFill rotWithShape="1">
          <a:blip r:embed="rId3">
            <a:alphaModFix/>
          </a:blip>
          <a:srcRect b="0" l="120" r="130" t="0"/>
          <a:stretch/>
        </p:blipFill>
        <p:spPr>
          <a:xfrm>
            <a:off x="1238250" y="4381500"/>
            <a:ext cx="9715500" cy="1028700"/>
          </a:xfrm>
          <a:prstGeom prst="rect">
            <a:avLst/>
          </a:prstGeom>
          <a:noFill/>
          <a:ln>
            <a:noFill/>
          </a:ln>
        </p:spPr>
      </p:pic>
      <p:sp>
        <p:nvSpPr>
          <p:cNvPr id="172" name="Google Shape;172;p17"/>
          <p:cNvSpPr/>
          <p:nvPr/>
        </p:nvSpPr>
        <p:spPr>
          <a:xfrm>
            <a:off x="8915400" y="514350"/>
            <a:ext cx="2667000" cy="324000"/>
          </a:xfrm>
          <a:prstGeom prst="roundRect">
            <a:avLst>
              <a:gd fmla="val 1764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7"/>
          <p:cNvSpPr txBox="1"/>
          <p:nvPr/>
        </p:nvSpPr>
        <p:spPr>
          <a:xfrm>
            <a:off x="8915400" y="514350"/>
            <a:ext cx="26670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lang="en-US" sz="950">
                <a:solidFill>
                  <a:srgbClr val="475569"/>
                </a:solidFill>
                <a:latin typeface="Inter Medium"/>
                <a:ea typeface="Inter Medium"/>
                <a:cs typeface="Inter Medium"/>
                <a:sym typeface="Inter Medium"/>
              </a:rPr>
              <a:t>generate_scenarios.py</a:t>
            </a:r>
            <a:endParaRPr b="0" i="0" sz="950">
              <a:solidFill>
                <a:srgbClr val="475569"/>
              </a:solidFill>
              <a:latin typeface="Inter Medium"/>
              <a:ea typeface="Inter Medium"/>
              <a:cs typeface="Inter Medium"/>
              <a:sym typeface="Inter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 name="Shape 177"/>
        <p:cNvGrpSpPr/>
        <p:nvPr/>
      </p:nvGrpSpPr>
      <p:grpSpPr>
        <a:xfrm>
          <a:off x="0" y="0"/>
          <a:ext cx="0" cy="0"/>
          <a:chOff x="0" y="0"/>
          <a:chExt cx="0" cy="0"/>
        </a:xfrm>
      </p:grpSpPr>
      <p:sp>
        <p:nvSpPr>
          <p:cNvPr id="178" name="Google Shape;178;p18"/>
          <p:cNvSpPr/>
          <p:nvPr/>
        </p:nvSpPr>
        <p:spPr>
          <a:xfrm>
            <a:off x="609600" y="1285875"/>
            <a:ext cx="5334000" cy="2667000"/>
          </a:xfrm>
          <a:prstGeom prst="roundRect">
            <a:avLst>
              <a:gd fmla="val 4285"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8"/>
          <p:cNvSpPr/>
          <p:nvPr/>
        </p:nvSpPr>
        <p:spPr>
          <a:xfrm>
            <a:off x="6248400" y="1285875"/>
            <a:ext cx="5334000" cy="2667000"/>
          </a:xfrm>
          <a:prstGeom prst="roundRect">
            <a:avLst>
              <a:gd fmla="val 4285"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8"/>
          <p:cNvSpPr txBox="1"/>
          <p:nvPr/>
        </p:nvSpPr>
        <p:spPr>
          <a:xfrm>
            <a:off x="609600" y="457200"/>
            <a:ext cx="115824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050">
                <a:solidFill>
                  <a:srgbClr val="0284C7"/>
                </a:solidFill>
                <a:latin typeface="Inter"/>
                <a:ea typeface="Inter"/>
                <a:cs typeface="Inter"/>
                <a:sym typeface="Inter"/>
              </a:rPr>
              <a:t>PARAMETER-EFFICIENT TUNING</a:t>
            </a:r>
            <a:endParaRPr b="1" sz="1050">
              <a:solidFill>
                <a:srgbClr val="0284C7"/>
              </a:solidFill>
              <a:latin typeface="Inter"/>
              <a:ea typeface="Inter"/>
              <a:cs typeface="Inter"/>
              <a:sym typeface="Inter"/>
            </a:endParaRPr>
          </a:p>
        </p:txBody>
      </p:sp>
      <p:sp>
        <p:nvSpPr>
          <p:cNvPr id="181" name="Google Shape;181;p18"/>
          <p:cNvSpPr txBox="1"/>
          <p:nvPr/>
        </p:nvSpPr>
        <p:spPr>
          <a:xfrm>
            <a:off x="609600" y="685800"/>
            <a:ext cx="11582400" cy="34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220">
                <a:solidFill>
                  <a:srgbClr val="0F172A"/>
                </a:solidFill>
                <a:latin typeface="Space Grotesk"/>
                <a:ea typeface="Space Grotesk"/>
                <a:cs typeface="Space Grotesk"/>
                <a:sym typeface="Space Grotesk"/>
              </a:rPr>
              <a:t>Qwen2.5-0.5B LoRA Adaptation</a:t>
            </a:r>
            <a:endParaRPr b="1" sz="2220">
              <a:solidFill>
                <a:srgbClr val="0F172A"/>
              </a:solidFill>
              <a:latin typeface="Space Grotesk"/>
              <a:ea typeface="Space Grotesk"/>
              <a:cs typeface="Space Grotesk"/>
              <a:sym typeface="Space Grotesk"/>
            </a:endParaRPr>
          </a:p>
        </p:txBody>
      </p:sp>
      <p:sp>
        <p:nvSpPr>
          <p:cNvPr id="182" name="Google Shape;182;p18"/>
          <p:cNvSpPr txBox="1"/>
          <p:nvPr/>
        </p:nvSpPr>
        <p:spPr>
          <a:xfrm>
            <a:off x="876300" y="1476375"/>
            <a:ext cx="48006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Space Grotesk"/>
                <a:ea typeface="Space Grotesk"/>
                <a:cs typeface="Space Grotesk"/>
                <a:sym typeface="Space Grotesk"/>
              </a:rPr>
              <a:t>Architecture Decisions</a:t>
            </a:r>
            <a:endParaRPr b="1" sz="1600">
              <a:solidFill>
                <a:srgbClr val="0F172A"/>
              </a:solidFill>
              <a:latin typeface="Space Grotesk"/>
              <a:ea typeface="Space Grotesk"/>
              <a:cs typeface="Space Grotesk"/>
              <a:sym typeface="Space Grotesk"/>
            </a:endParaRPr>
          </a:p>
          <a:p>
            <a:pPr indent="-307975" lvl="0" marL="457200" rtl="0" algn="l">
              <a:spcBef>
                <a:spcPts val="1350"/>
              </a:spcBef>
              <a:spcAft>
                <a:spcPts val="0"/>
              </a:spcAft>
              <a:buClr>
                <a:srgbClr val="334155"/>
              </a:buClr>
              <a:buSzPts val="1250"/>
              <a:buFont typeface="Inter"/>
              <a:buChar char="●"/>
            </a:pPr>
            <a:r>
              <a:rPr b="1" lang="en-US" sz="1250">
                <a:solidFill>
                  <a:srgbClr val="0284C7"/>
                </a:solidFill>
                <a:latin typeface="Inter"/>
                <a:ea typeface="Inter"/>
                <a:cs typeface="Inter"/>
                <a:sym typeface="Inter"/>
              </a:rPr>
              <a:t>•</a:t>
            </a:r>
            <a:r>
              <a:rPr b="1" lang="en-US" sz="1250">
                <a:solidFill>
                  <a:srgbClr val="0F172A"/>
                </a:solidFill>
                <a:latin typeface="Inter"/>
                <a:ea typeface="Inter"/>
                <a:cs typeface="Inter"/>
                <a:sym typeface="Inter"/>
              </a:rPr>
              <a:t>Base Model:</a:t>
            </a:r>
            <a:r>
              <a:rPr lang="en-US" sz="1250">
                <a:solidFill>
                  <a:srgbClr val="334155"/>
                </a:solidFill>
                <a:latin typeface="Inter"/>
                <a:ea typeface="Inter"/>
                <a:cs typeface="Inter"/>
                <a:sym typeface="Inter"/>
              </a:rPr>
              <a:t> Qwen2.5-0.5B-Instruct (494M params)</a:t>
            </a:r>
            <a:endParaRPr sz="1250">
              <a:solidFill>
                <a:srgbClr val="334155"/>
              </a:solidFill>
              <a:latin typeface="Inter"/>
              <a:ea typeface="Inter"/>
              <a:cs typeface="Inter"/>
              <a:sym typeface="Inter"/>
            </a:endParaRPr>
          </a:p>
          <a:p>
            <a:pPr indent="-307975" lvl="0" marL="457200" rtl="0" algn="l">
              <a:spcBef>
                <a:spcPts val="900"/>
              </a:spcBef>
              <a:spcAft>
                <a:spcPts val="0"/>
              </a:spcAft>
              <a:buClr>
                <a:srgbClr val="334155"/>
              </a:buClr>
              <a:buSzPts val="1250"/>
              <a:buFont typeface="Inter"/>
              <a:buChar char="●"/>
            </a:pPr>
            <a:r>
              <a:rPr b="1" lang="en-US" sz="1250">
                <a:solidFill>
                  <a:srgbClr val="0284C7"/>
                </a:solidFill>
                <a:latin typeface="Inter"/>
                <a:ea typeface="Inter"/>
                <a:cs typeface="Inter"/>
                <a:sym typeface="Inter"/>
              </a:rPr>
              <a:t>•</a:t>
            </a:r>
            <a:r>
              <a:rPr b="1" lang="en-US" sz="1250">
                <a:solidFill>
                  <a:srgbClr val="0F172A"/>
                </a:solidFill>
                <a:latin typeface="Inter"/>
                <a:ea typeface="Inter"/>
                <a:cs typeface="Inter"/>
                <a:sym typeface="Inter"/>
              </a:rPr>
              <a:t>Target Adapters:</a:t>
            </a:r>
            <a:r>
              <a:rPr lang="en-US" sz="1250">
                <a:solidFill>
                  <a:srgbClr val="334155"/>
                </a:solidFill>
                <a:latin typeface="Inter"/>
                <a:ea typeface="Inter"/>
                <a:cs typeface="Inter"/>
                <a:sym typeface="Inter"/>
              </a:rPr>
              <a:t> q_proj, v_proj attention layers</a:t>
            </a:r>
            <a:endParaRPr sz="1250">
              <a:solidFill>
                <a:srgbClr val="334155"/>
              </a:solidFill>
              <a:latin typeface="Inter"/>
              <a:ea typeface="Inter"/>
              <a:cs typeface="Inter"/>
              <a:sym typeface="Inter"/>
            </a:endParaRPr>
          </a:p>
          <a:p>
            <a:pPr indent="-307975" lvl="0" marL="457200" rtl="0" algn="l">
              <a:spcBef>
                <a:spcPts val="900"/>
              </a:spcBef>
              <a:spcAft>
                <a:spcPts val="0"/>
              </a:spcAft>
              <a:buClr>
                <a:srgbClr val="334155"/>
              </a:buClr>
              <a:buSzPts val="1250"/>
              <a:buFont typeface="Inter"/>
              <a:buChar char="●"/>
            </a:pPr>
            <a:r>
              <a:rPr b="1" lang="en-US" sz="1250">
                <a:solidFill>
                  <a:srgbClr val="0284C7"/>
                </a:solidFill>
                <a:latin typeface="Inter"/>
                <a:ea typeface="Inter"/>
                <a:cs typeface="Inter"/>
                <a:sym typeface="Inter"/>
              </a:rPr>
              <a:t>•</a:t>
            </a:r>
            <a:r>
              <a:rPr b="1" lang="en-US" sz="1250">
                <a:solidFill>
                  <a:srgbClr val="0F172A"/>
                </a:solidFill>
                <a:latin typeface="Inter"/>
                <a:ea typeface="Inter"/>
                <a:cs typeface="Inter"/>
                <a:sym typeface="Inter"/>
              </a:rPr>
              <a:t>Rank &amp; Alpha:</a:t>
            </a:r>
            <a:r>
              <a:rPr lang="en-US" sz="1250">
                <a:solidFill>
                  <a:srgbClr val="334155"/>
                </a:solidFill>
                <a:latin typeface="Inter"/>
                <a:ea typeface="Inter"/>
                <a:cs typeface="Inter"/>
                <a:sym typeface="Inter"/>
              </a:rPr>
              <a:t> Rank 16 with scaling factor 32</a:t>
            </a:r>
            <a:endParaRPr sz="1250">
              <a:solidFill>
                <a:srgbClr val="334155"/>
              </a:solidFill>
              <a:latin typeface="Inter"/>
              <a:ea typeface="Inter"/>
              <a:cs typeface="Inter"/>
              <a:sym typeface="Inter"/>
            </a:endParaRPr>
          </a:p>
          <a:p>
            <a:pPr indent="-307975" lvl="0" marL="457200" rtl="0" algn="l">
              <a:spcBef>
                <a:spcPts val="900"/>
              </a:spcBef>
              <a:spcAft>
                <a:spcPts val="0"/>
              </a:spcAft>
              <a:buClr>
                <a:srgbClr val="334155"/>
              </a:buClr>
              <a:buSzPts val="1250"/>
              <a:buFont typeface="Inter"/>
              <a:buChar char="●"/>
            </a:pPr>
            <a:r>
              <a:rPr b="1" lang="en-US" sz="1250">
                <a:solidFill>
                  <a:srgbClr val="0284C7"/>
                </a:solidFill>
                <a:latin typeface="Inter"/>
                <a:ea typeface="Inter"/>
                <a:cs typeface="Inter"/>
                <a:sym typeface="Inter"/>
              </a:rPr>
              <a:t>•</a:t>
            </a:r>
            <a:r>
              <a:rPr b="1" lang="en-US" sz="1250">
                <a:solidFill>
                  <a:srgbClr val="0F172A"/>
                </a:solidFill>
                <a:latin typeface="Inter"/>
                <a:ea typeface="Inter"/>
                <a:cs typeface="Inter"/>
                <a:sym typeface="Inter"/>
              </a:rPr>
              <a:t>Total Adapted:</a:t>
            </a:r>
            <a:r>
              <a:rPr lang="en-US" sz="1250">
                <a:solidFill>
                  <a:srgbClr val="334155"/>
                </a:solidFill>
                <a:latin typeface="Inter"/>
                <a:ea typeface="Inter"/>
                <a:cs typeface="Inter"/>
                <a:sym typeface="Inter"/>
              </a:rPr>
              <a:t> 1,081,344 weights (0.218% footprint)</a:t>
            </a:r>
            <a:endParaRPr sz="1250">
              <a:solidFill>
                <a:srgbClr val="334155"/>
              </a:solidFill>
              <a:latin typeface="Inter"/>
              <a:ea typeface="Inter"/>
              <a:cs typeface="Inter"/>
              <a:sym typeface="Inter"/>
            </a:endParaRPr>
          </a:p>
        </p:txBody>
      </p:sp>
      <p:sp>
        <p:nvSpPr>
          <p:cNvPr id="183" name="Google Shape;183;p18"/>
          <p:cNvSpPr txBox="1"/>
          <p:nvPr/>
        </p:nvSpPr>
        <p:spPr>
          <a:xfrm>
            <a:off x="6515100" y="1476375"/>
            <a:ext cx="4800600" cy="2286000"/>
          </a:xfrm>
          <a:prstGeom prst="rect">
            <a:avLst/>
          </a:prstGeom>
          <a:noFill/>
          <a:ln>
            <a:noFill/>
          </a:ln>
        </p:spPr>
        <p:txBody>
          <a:bodyPr anchorCtr="0" anchor="t" bIns="0" lIns="0" spcFirstLastPara="1" rIns="0" wrap="square" tIns="0">
            <a:noAutofit/>
          </a:bodyPr>
          <a:lstStyle/>
          <a:p>
            <a:r>
              <a:t>Hypothesis &amp; Experimental Design</a:t>
            </a:r>
          </a:p>
          <a:p>
            <a:r>
              <a:t>•Hypothesis: Sub-1B base instruction models fail at strict nested JSON schema output (&lt;5%) and domain arithmetic; LoRA SFT on attention projection layers (q_proj, v_proj) with r=16 will achieve &gt;70% valid schema adherence and exact delta computation within CPU constraints, while RAG provides clause grounding.</a:t>
            </a:r>
          </a:p>
          <a:p>
            <a:r>
              <a:t>•Experimental Design: 5-way comparative test on 8 held-out scenarios across 7 explicit metrics.</a:t>
            </a:r>
          </a:p>
          <a:p>
            <a:r>
              <a:t>•Dual-Gate Evaluation: Gate 1 (Automated Strict Syntactic JSON) + Gate 2 (Semantic Domain Metric).</a:t>
            </a:r>
          </a:p>
          <a:p>
            <a:r>
              <a:t>•Validation: Zero-shot baselines vs. fine-tuned adapter, with and without ChromaDB RAG.</a:t>
            </a:r>
          </a:p>
        </p:txBody>
      </p:sp>
      <p:sp>
        <p:nvSpPr>
          <p:cNvPr id="184" name="Google Shape;184;p18"/>
          <p:cNvSpPr/>
          <p:nvPr/>
        </p:nvSpPr>
        <p:spPr>
          <a:xfrm>
            <a:off x="609600" y="4143375"/>
            <a:ext cx="10972800" cy="2238300"/>
          </a:xfrm>
          <a:prstGeom prst="roundRect">
            <a:avLst>
              <a:gd fmla="val 5106"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85" name="Google Shape;185;p18"/>
          <p:cNvPicPr preferRelativeResize="0"/>
          <p:nvPr/>
        </p:nvPicPr>
        <p:blipFill rotWithShape="1">
          <a:blip r:embed="rId3">
            <a:alphaModFix/>
          </a:blip>
          <a:srcRect b="3166" l="0" r="0" t="3166"/>
          <a:stretch/>
        </p:blipFill>
        <p:spPr>
          <a:xfrm>
            <a:off x="2247900" y="4267200"/>
            <a:ext cx="7696200" cy="1990800"/>
          </a:xfrm>
          <a:prstGeom prst="rect">
            <a:avLst/>
          </a:prstGeom>
          <a:noFill/>
          <a:ln>
            <a:noFill/>
          </a:ln>
        </p:spPr>
      </p:pic>
      <p:sp>
        <p:nvSpPr>
          <p:cNvPr id="186" name="Google Shape;186;p18"/>
          <p:cNvSpPr/>
          <p:nvPr/>
        </p:nvSpPr>
        <p:spPr>
          <a:xfrm>
            <a:off x="8915400" y="514350"/>
            <a:ext cx="2667000" cy="324000"/>
          </a:xfrm>
          <a:prstGeom prst="roundRect">
            <a:avLst>
              <a:gd fmla="val 1764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8"/>
          <p:cNvSpPr txBox="1"/>
          <p:nvPr/>
        </p:nvSpPr>
        <p:spPr>
          <a:xfrm>
            <a:off x="8915400" y="514350"/>
            <a:ext cx="26670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i="0" lang="en-US" sz="950">
                <a:solidFill>
                  <a:srgbClr val="475569"/>
                </a:solidFill>
                <a:latin typeface="Inter Medium"/>
                <a:ea typeface="Inter Medium"/>
                <a:cs typeface="Inter Medium"/>
                <a:sym typeface="Inter Medium"/>
              </a:rPr>
              <a:t>(Hu et al., 2021; Aghajanyan et al., 2020)</a:t>
            </a:r>
            <a:endParaRPr b="0" i="0" sz="950">
              <a:solidFill>
                <a:srgbClr val="475569"/>
              </a:solidFill>
              <a:latin typeface="Inter Medium"/>
              <a:ea typeface="Inter Medium"/>
              <a:cs typeface="Inter Medium"/>
              <a:sym typeface="Inter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19"/>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Inter"/>
                <a:ea typeface="Inter"/>
                <a:cs typeface="Inter"/>
                <a:sym typeface="Inter"/>
              </a:rPr>
              <a:t>CONVERGENCE EVIDENCE</a:t>
            </a:r>
            <a:endParaRPr/>
          </a:p>
        </p:txBody>
      </p:sp>
      <p:sp>
        <p:nvSpPr>
          <p:cNvPr id="193" name="Google Shape;193;p19"/>
          <p:cNvSpPr txBox="1"/>
          <p:nvPr/>
        </p:nvSpPr>
        <p:spPr>
          <a:xfrm>
            <a:off x="609600" y="695325"/>
            <a:ext cx="11582400" cy="3693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0F172A"/>
                </a:solidFill>
                <a:latin typeface="Space Grotesk"/>
                <a:ea typeface="Space Grotesk"/>
                <a:cs typeface="Space Grotesk"/>
                <a:sym typeface="Space Grotesk"/>
              </a:rPr>
              <a:t>96.7% Cross-Entropy Loss Reduction</a:t>
            </a:r>
            <a:endParaRPr/>
          </a:p>
        </p:txBody>
      </p:sp>
      <p:sp>
        <p:nvSpPr>
          <p:cNvPr id="194" name="Google Shape;194;p19"/>
          <p:cNvSpPr txBox="1"/>
          <p:nvPr/>
        </p:nvSpPr>
        <p:spPr>
          <a:xfrm>
            <a:off x="609600" y="5143500"/>
            <a:ext cx="11582400" cy="2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350">
                <a:solidFill>
                  <a:srgbClr val="334155"/>
                </a:solidFill>
                <a:latin typeface="Inter"/>
                <a:ea typeface="Inter"/>
                <a:cs typeface="Inter"/>
                <a:sym typeface="Inter"/>
              </a:rPr>
              <a:t>Unseen Validation Loss: </a:t>
            </a:r>
            <a:r>
              <a:rPr b="0" lang="en-US" sz="1350">
                <a:solidFill>
                  <a:srgbClr val="334155"/>
                </a:solidFill>
                <a:latin typeface="Inter"/>
                <a:ea typeface="Inter"/>
                <a:cs typeface="Inter"/>
                <a:sym typeface="Inter"/>
              </a:rPr>
              <a:t>Reached </a:t>
            </a:r>
            <a:r>
              <a:rPr b="1" lang="en-US" sz="1350">
                <a:solidFill>
                  <a:srgbClr val="334155"/>
                </a:solidFill>
                <a:latin typeface="Inter"/>
                <a:ea typeface="Inter"/>
                <a:cs typeface="Inter"/>
                <a:sym typeface="Inter"/>
              </a:rPr>
              <a:t>0.0907</a:t>
            </a:r>
            <a:r>
              <a:rPr b="0" lang="en-US" sz="1350">
                <a:solidFill>
                  <a:srgbClr val="334155"/>
                </a:solidFill>
                <a:latin typeface="Inter"/>
                <a:ea typeface="Inter"/>
                <a:cs typeface="Inter"/>
                <a:sym typeface="Inter"/>
              </a:rPr>
              <a:t> on held-out test data with zero loss divergences or training instability.</a:t>
            </a:r>
            <a:endParaRPr b="1" sz="1350">
              <a:solidFill>
                <a:srgbClr val="334155"/>
              </a:solidFill>
              <a:latin typeface="Inter"/>
              <a:ea typeface="Inter"/>
              <a:cs typeface="Inter"/>
              <a:sym typeface="Inter"/>
            </a:endParaRPr>
          </a:p>
        </p:txBody>
      </p:sp>
      <p:grpSp>
        <p:nvGrpSpPr>
          <p:cNvPr id="195" name="Google Shape;195;p19"/>
          <p:cNvGrpSpPr/>
          <p:nvPr/>
        </p:nvGrpSpPr>
        <p:grpSpPr>
          <a:xfrm>
            <a:off x="428625" y="1476375"/>
            <a:ext cx="11001375" cy="2914605"/>
            <a:chOff x="428625" y="1476375"/>
            <a:chExt cx="11001375" cy="2914605"/>
          </a:xfrm>
        </p:grpSpPr>
        <p:pic>
          <p:nvPicPr>
            <p:cNvPr id="196" name="Google Shape;196;p19"/>
            <p:cNvPicPr preferRelativeResize="0"/>
            <p:nvPr/>
          </p:nvPicPr>
          <p:blipFill rotWithShape="1">
            <a:blip r:embed="rId3">
              <a:alphaModFix/>
            </a:blip>
            <a:srcRect b="0" l="0" r="0" t="0"/>
            <a:stretch/>
          </p:blipFill>
          <p:spPr>
            <a:xfrm>
              <a:off x="1143000" y="1995488"/>
              <a:ext cx="7962900" cy="9600"/>
            </a:xfrm>
            <a:prstGeom prst="rect">
              <a:avLst/>
            </a:prstGeom>
            <a:noFill/>
            <a:ln>
              <a:noFill/>
            </a:ln>
          </p:spPr>
        </p:pic>
        <p:sp>
          <p:nvSpPr>
            <p:cNvPr id="197" name="Google Shape;197;p19"/>
            <p:cNvSpPr txBox="1"/>
            <p:nvPr/>
          </p:nvSpPr>
          <p:spPr>
            <a:xfrm>
              <a:off x="805872" y="1954530"/>
              <a:ext cx="194400" cy="169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US" sz="825">
                  <a:solidFill>
                    <a:srgbClr val="94A3B8"/>
                  </a:solidFill>
                  <a:latin typeface="JetBrains Mono"/>
                  <a:ea typeface="JetBrains Mono"/>
                  <a:cs typeface="JetBrains Mono"/>
                  <a:sym typeface="JetBrains Mono"/>
                </a:rPr>
                <a:t>3.0</a:t>
              </a:r>
              <a:endParaRPr sz="825">
                <a:solidFill>
                  <a:srgbClr val="94A3B8"/>
                </a:solidFill>
                <a:latin typeface="JetBrains Mono"/>
                <a:ea typeface="JetBrains Mono"/>
                <a:cs typeface="JetBrains Mono"/>
                <a:sym typeface="JetBrains Mono"/>
              </a:endParaRPr>
            </a:p>
          </p:txBody>
        </p:sp>
        <p:pic>
          <p:nvPicPr>
            <p:cNvPr id="198" name="Google Shape;198;p19"/>
            <p:cNvPicPr preferRelativeResize="0"/>
            <p:nvPr/>
          </p:nvPicPr>
          <p:blipFill rotWithShape="1">
            <a:blip r:embed="rId3">
              <a:alphaModFix/>
            </a:blip>
            <a:srcRect b="0" l="0" r="0" t="0"/>
            <a:stretch/>
          </p:blipFill>
          <p:spPr>
            <a:xfrm>
              <a:off x="1143000" y="2690813"/>
              <a:ext cx="7962900" cy="9600"/>
            </a:xfrm>
            <a:prstGeom prst="rect">
              <a:avLst/>
            </a:prstGeom>
            <a:noFill/>
            <a:ln>
              <a:noFill/>
            </a:ln>
          </p:spPr>
        </p:pic>
        <p:sp>
          <p:nvSpPr>
            <p:cNvPr id="199" name="Google Shape;199;p19"/>
            <p:cNvSpPr txBox="1"/>
            <p:nvPr/>
          </p:nvSpPr>
          <p:spPr>
            <a:xfrm>
              <a:off x="805872" y="2649855"/>
              <a:ext cx="194400" cy="169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US" sz="825">
                  <a:solidFill>
                    <a:srgbClr val="94A3B8"/>
                  </a:solidFill>
                  <a:latin typeface="JetBrains Mono"/>
                  <a:ea typeface="JetBrains Mono"/>
                  <a:cs typeface="JetBrains Mono"/>
                  <a:sym typeface="JetBrains Mono"/>
                </a:rPr>
                <a:t>2.0</a:t>
              </a:r>
              <a:endParaRPr sz="825">
                <a:solidFill>
                  <a:srgbClr val="94A3B8"/>
                </a:solidFill>
                <a:latin typeface="JetBrains Mono"/>
                <a:ea typeface="JetBrains Mono"/>
                <a:cs typeface="JetBrains Mono"/>
                <a:sym typeface="JetBrains Mono"/>
              </a:endParaRPr>
            </a:p>
          </p:txBody>
        </p:sp>
        <p:pic>
          <p:nvPicPr>
            <p:cNvPr id="200" name="Google Shape;200;p19"/>
            <p:cNvPicPr preferRelativeResize="0"/>
            <p:nvPr/>
          </p:nvPicPr>
          <p:blipFill rotWithShape="1">
            <a:blip r:embed="rId3">
              <a:alphaModFix/>
            </a:blip>
            <a:srcRect b="0" l="0" r="0" t="0"/>
            <a:stretch/>
          </p:blipFill>
          <p:spPr>
            <a:xfrm>
              <a:off x="1143000" y="3386138"/>
              <a:ext cx="7962900" cy="9600"/>
            </a:xfrm>
            <a:prstGeom prst="rect">
              <a:avLst/>
            </a:prstGeom>
            <a:noFill/>
            <a:ln>
              <a:noFill/>
            </a:ln>
          </p:spPr>
        </p:pic>
        <p:sp>
          <p:nvSpPr>
            <p:cNvPr id="201" name="Google Shape;201;p19"/>
            <p:cNvSpPr txBox="1"/>
            <p:nvPr/>
          </p:nvSpPr>
          <p:spPr>
            <a:xfrm>
              <a:off x="805872" y="3345180"/>
              <a:ext cx="194400" cy="169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US" sz="825">
                  <a:solidFill>
                    <a:srgbClr val="94A3B8"/>
                  </a:solidFill>
                  <a:latin typeface="JetBrains Mono"/>
                  <a:ea typeface="JetBrains Mono"/>
                  <a:cs typeface="JetBrains Mono"/>
                  <a:sym typeface="JetBrains Mono"/>
                </a:rPr>
                <a:t>1.0</a:t>
              </a:r>
              <a:endParaRPr sz="825">
                <a:solidFill>
                  <a:srgbClr val="94A3B8"/>
                </a:solidFill>
                <a:latin typeface="JetBrains Mono"/>
                <a:ea typeface="JetBrains Mono"/>
                <a:cs typeface="JetBrains Mono"/>
                <a:sym typeface="JetBrains Mono"/>
              </a:endParaRPr>
            </a:p>
          </p:txBody>
        </p:sp>
        <p:cxnSp>
          <p:nvCxnSpPr>
            <p:cNvPr id="202" name="Google Shape;202;p19"/>
            <p:cNvCxnSpPr/>
            <p:nvPr/>
          </p:nvCxnSpPr>
          <p:spPr>
            <a:xfrm>
              <a:off x="1143000" y="4095750"/>
              <a:ext cx="9906000" cy="0"/>
            </a:xfrm>
            <a:prstGeom prst="straightConnector1">
              <a:avLst/>
            </a:prstGeom>
            <a:solidFill>
              <a:srgbClr val="FFFFFF"/>
            </a:solidFill>
            <a:ln cap="flat" cmpd="sng" w="14300">
              <a:solidFill>
                <a:srgbClr val="CBD5E1"/>
              </a:solidFill>
              <a:prstDash val="solid"/>
              <a:round/>
              <a:headEnd len="sm" w="sm" type="none"/>
              <a:tailEnd len="sm" w="sm" type="none"/>
            </a:ln>
          </p:spPr>
        </p:cxnSp>
        <p:sp>
          <p:nvSpPr>
            <p:cNvPr id="203" name="Google Shape;203;p19"/>
            <p:cNvSpPr txBox="1"/>
            <p:nvPr/>
          </p:nvSpPr>
          <p:spPr>
            <a:xfrm>
              <a:off x="805872" y="4050030"/>
              <a:ext cx="194400" cy="169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US" sz="825">
                  <a:solidFill>
                    <a:srgbClr val="94A3B8"/>
                  </a:solidFill>
                  <a:latin typeface="JetBrains Mono"/>
                  <a:ea typeface="JetBrains Mono"/>
                  <a:cs typeface="JetBrains Mono"/>
                  <a:sym typeface="JetBrains Mono"/>
                </a:rPr>
                <a:t>0.0</a:t>
              </a:r>
              <a:endParaRPr sz="825">
                <a:solidFill>
                  <a:srgbClr val="94A3B8"/>
                </a:solidFill>
                <a:latin typeface="JetBrains Mono"/>
                <a:ea typeface="JetBrains Mono"/>
                <a:cs typeface="JetBrains Mono"/>
                <a:sym typeface="JetBrains Mono"/>
              </a:endParaRPr>
            </a:p>
          </p:txBody>
        </p:sp>
        <p:sp>
          <p:nvSpPr>
            <p:cNvPr id="204" name="Google Shape;204;p19"/>
            <p:cNvSpPr/>
            <p:nvPr/>
          </p:nvSpPr>
          <p:spPr>
            <a:xfrm>
              <a:off x="1381125" y="2209800"/>
              <a:ext cx="9096300" cy="1886100"/>
            </a:xfrm>
            <a:custGeom>
              <a:rect b="b" l="l" r="r" t="t"/>
              <a:pathLst>
                <a:path extrusionOk="0" h="120000" w="120000">
                  <a:moveTo>
                    <a:pt x="0" y="0"/>
                  </a:moveTo>
                  <a:lnTo>
                    <a:pt x="29529" y="101212"/>
                  </a:lnTo>
                  <a:lnTo>
                    <a:pt x="59686" y="112121"/>
                  </a:lnTo>
                  <a:lnTo>
                    <a:pt x="120000" y="116364"/>
                  </a:lnTo>
                  <a:lnTo>
                    <a:pt x="120000" y="120000"/>
                  </a:lnTo>
                  <a:lnTo>
                    <a:pt x="0" y="120000"/>
                  </a:lnTo>
                  <a:close/>
                </a:path>
              </a:pathLst>
            </a:custGeom>
            <a:gradFill>
              <a:gsLst>
                <a:gs pos="0">
                  <a:srgbClr val="0284C7">
                    <a:alpha val="25098"/>
                  </a:srgbClr>
                </a:gs>
                <a:gs pos="100000">
                  <a:srgbClr val="0284C7">
                    <a:alpha val="0"/>
                  </a:srgbClr>
                </a:gs>
              </a:gsLst>
              <a:lin ang="5400000" scaled="0"/>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9"/>
            <p:cNvSpPr/>
            <p:nvPr/>
          </p:nvSpPr>
          <p:spPr>
            <a:xfrm>
              <a:off x="1381125" y="2209800"/>
              <a:ext cx="9096300" cy="1828800"/>
            </a:xfrm>
            <a:custGeom>
              <a:rect b="b" l="l" r="r" t="t"/>
              <a:pathLst>
                <a:path extrusionOk="0" h="120000" w="120000">
                  <a:moveTo>
                    <a:pt x="0" y="0"/>
                  </a:moveTo>
                  <a:lnTo>
                    <a:pt x="29529" y="104375"/>
                  </a:lnTo>
                  <a:lnTo>
                    <a:pt x="59686" y="115625"/>
                  </a:lnTo>
                  <a:lnTo>
                    <a:pt x="120000" y="120000"/>
                  </a:lnTo>
                </a:path>
              </a:pathLst>
            </a:custGeom>
            <a:solidFill>
              <a:srgbClr val="000000">
                <a:alpha val="0"/>
              </a:srgbClr>
            </a:solidFill>
            <a:ln cap="rnd" cmpd="sng" w="33350">
              <a:solidFill>
                <a:srgbClr val="0284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19"/>
            <p:cNvSpPr/>
            <p:nvPr/>
          </p:nvSpPr>
          <p:spPr>
            <a:xfrm>
              <a:off x="1323975" y="2152650"/>
              <a:ext cx="114300" cy="114300"/>
            </a:xfrm>
            <a:prstGeom prst="ellipse">
              <a:avLst/>
            </a:prstGeom>
            <a:solidFill>
              <a:srgbClr val="FFFFFF"/>
            </a:solidFill>
            <a:ln cap="flat" cmpd="sng" w="28575">
              <a:solidFill>
                <a:srgbClr val="0284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19"/>
            <p:cNvSpPr/>
            <p:nvPr/>
          </p:nvSpPr>
          <p:spPr>
            <a:xfrm>
              <a:off x="3562350" y="3743325"/>
              <a:ext cx="114300" cy="114300"/>
            </a:xfrm>
            <a:prstGeom prst="ellipse">
              <a:avLst/>
            </a:prstGeom>
            <a:solidFill>
              <a:srgbClr val="FFFFFF"/>
            </a:solidFill>
            <a:ln cap="flat" cmpd="sng" w="28575">
              <a:solidFill>
                <a:srgbClr val="0284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19"/>
            <p:cNvSpPr/>
            <p:nvPr/>
          </p:nvSpPr>
          <p:spPr>
            <a:xfrm>
              <a:off x="5848350" y="3914775"/>
              <a:ext cx="114300" cy="114300"/>
            </a:xfrm>
            <a:prstGeom prst="ellipse">
              <a:avLst/>
            </a:prstGeom>
            <a:solidFill>
              <a:srgbClr val="FFFFFF"/>
            </a:solidFill>
            <a:ln cap="flat" cmpd="sng" w="28575">
              <a:solidFill>
                <a:srgbClr val="0284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19"/>
            <p:cNvSpPr/>
            <p:nvPr/>
          </p:nvSpPr>
          <p:spPr>
            <a:xfrm>
              <a:off x="10420350" y="3981450"/>
              <a:ext cx="114300" cy="114300"/>
            </a:xfrm>
            <a:prstGeom prst="ellipse">
              <a:avLst/>
            </a:prstGeom>
            <a:solidFill>
              <a:srgbClr val="FFFFFF"/>
            </a:solidFill>
            <a:ln cap="flat" cmpd="sng" w="28575">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0" name="Google Shape;210;p19"/>
            <p:cNvPicPr preferRelativeResize="0"/>
            <p:nvPr/>
          </p:nvPicPr>
          <p:blipFill rotWithShape="1">
            <a:blip r:embed="rId4">
              <a:alphaModFix/>
            </a:blip>
            <a:srcRect b="0" l="0" r="0" t="0"/>
            <a:stretch/>
          </p:blipFill>
          <p:spPr>
            <a:xfrm>
              <a:off x="1376363" y="2209800"/>
              <a:ext cx="9600" cy="1886100"/>
            </a:xfrm>
            <a:prstGeom prst="rect">
              <a:avLst/>
            </a:prstGeom>
            <a:noFill/>
            <a:ln>
              <a:noFill/>
            </a:ln>
          </p:spPr>
        </p:pic>
        <p:pic>
          <p:nvPicPr>
            <p:cNvPr id="211" name="Google Shape;211;p19"/>
            <p:cNvPicPr preferRelativeResize="0"/>
            <p:nvPr/>
          </p:nvPicPr>
          <p:blipFill rotWithShape="1">
            <a:blip r:embed="rId5">
              <a:alphaModFix/>
            </a:blip>
            <a:srcRect b="0" l="0" r="0" t="0"/>
            <a:stretch/>
          </p:blipFill>
          <p:spPr>
            <a:xfrm>
              <a:off x="3614738" y="3800475"/>
              <a:ext cx="9600" cy="285900"/>
            </a:xfrm>
            <a:prstGeom prst="rect">
              <a:avLst/>
            </a:prstGeom>
            <a:noFill/>
            <a:ln>
              <a:noFill/>
            </a:ln>
          </p:spPr>
        </p:pic>
        <p:pic>
          <p:nvPicPr>
            <p:cNvPr id="212" name="Google Shape;212;p19"/>
            <p:cNvPicPr preferRelativeResize="0"/>
            <p:nvPr/>
          </p:nvPicPr>
          <p:blipFill rotWithShape="1">
            <a:blip r:embed="rId6">
              <a:alphaModFix/>
            </a:blip>
            <a:srcRect b="0" l="0" r="0" t="0"/>
            <a:stretch/>
          </p:blipFill>
          <p:spPr>
            <a:xfrm>
              <a:off x="5900738" y="3971925"/>
              <a:ext cx="9600" cy="123900"/>
            </a:xfrm>
            <a:prstGeom prst="rect">
              <a:avLst/>
            </a:prstGeom>
            <a:noFill/>
            <a:ln>
              <a:noFill/>
            </a:ln>
          </p:spPr>
        </p:pic>
        <p:sp>
          <p:nvSpPr>
            <p:cNvPr id="213" name="Google Shape;213;p19"/>
            <p:cNvSpPr txBox="1"/>
            <p:nvPr/>
          </p:nvSpPr>
          <p:spPr>
            <a:xfrm>
              <a:off x="428625" y="1476375"/>
              <a:ext cx="1905000" cy="6669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1" lang="en-US" sz="1100">
                  <a:solidFill>
                    <a:srgbClr val="0F172A"/>
                  </a:solidFill>
                  <a:latin typeface="Inter"/>
                  <a:ea typeface="Inter"/>
                  <a:cs typeface="Inter"/>
                  <a:sym typeface="Inter"/>
                </a:rPr>
                <a:t>Step 1</a:t>
              </a:r>
              <a:endParaRPr b="1" sz="1100">
                <a:solidFill>
                  <a:srgbClr val="0F172A"/>
                </a:solidFill>
                <a:latin typeface="Inter"/>
                <a:ea typeface="Inter"/>
                <a:cs typeface="Inter"/>
                <a:sym typeface="Inter"/>
              </a:endParaRPr>
            </a:p>
            <a:p>
              <a:pPr indent="0" lvl="0" marL="0" rtl="0" algn="ctr">
                <a:spcBef>
                  <a:spcPts val="0"/>
                </a:spcBef>
                <a:spcAft>
                  <a:spcPts val="0"/>
                </a:spcAft>
                <a:buNone/>
              </a:pPr>
              <a:r>
                <a:rPr lang="en-US" sz="950">
                  <a:solidFill>
                    <a:srgbClr val="64748B"/>
                  </a:solidFill>
                  <a:latin typeface="Inter"/>
                  <a:ea typeface="Inter"/>
                  <a:cs typeface="Inter"/>
                  <a:sym typeface="Inter"/>
                </a:rPr>
                <a:t>Initial Base</a:t>
              </a:r>
              <a:endParaRPr sz="950">
                <a:solidFill>
                  <a:srgbClr val="64748B"/>
                </a:solidFill>
                <a:latin typeface="Inter"/>
                <a:ea typeface="Inter"/>
                <a:cs typeface="Inter"/>
                <a:sym typeface="Inter"/>
              </a:endParaRPr>
            </a:p>
            <a:p>
              <a:pPr indent="0" lvl="0" marL="0" rtl="0" algn="ctr">
                <a:spcBef>
                  <a:spcPts val="150"/>
                </a:spcBef>
                <a:spcAft>
                  <a:spcPts val="0"/>
                </a:spcAft>
                <a:buNone/>
              </a:pPr>
              <a:r>
                <a:rPr b="1" lang="en-US" sz="1200">
                  <a:solidFill>
                    <a:srgbClr val="0F172A"/>
                  </a:solidFill>
                  <a:latin typeface="JetBrains Mono"/>
                  <a:ea typeface="JetBrains Mono"/>
                  <a:cs typeface="JetBrains Mono"/>
                  <a:sym typeface="JetBrains Mono"/>
                </a:rPr>
                <a:t>2.6890</a:t>
              </a:r>
              <a:endParaRPr b="1" sz="1200">
                <a:solidFill>
                  <a:srgbClr val="0F172A"/>
                </a:solidFill>
                <a:latin typeface="JetBrains Mono"/>
                <a:ea typeface="JetBrains Mono"/>
                <a:cs typeface="JetBrains Mono"/>
                <a:sym typeface="JetBrains Mono"/>
              </a:endParaRPr>
            </a:p>
          </p:txBody>
        </p:sp>
        <p:sp>
          <p:nvSpPr>
            <p:cNvPr id="214" name="Google Shape;214;p19"/>
            <p:cNvSpPr txBox="1"/>
            <p:nvPr/>
          </p:nvSpPr>
          <p:spPr>
            <a:xfrm>
              <a:off x="2982931" y="2908771"/>
              <a:ext cx="1905000" cy="8097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1" lang="en-US" sz="1100">
                  <a:solidFill>
                    <a:srgbClr val="0F172A"/>
                  </a:solidFill>
                  <a:latin typeface="Inter"/>
                  <a:ea typeface="Inter"/>
                  <a:cs typeface="Inter"/>
                  <a:sym typeface="Inter"/>
                </a:rPr>
                <a:t>Step 50</a:t>
              </a:r>
              <a:endParaRPr b="1" sz="1100">
                <a:solidFill>
                  <a:srgbClr val="0F172A"/>
                </a:solidFill>
                <a:latin typeface="Inter"/>
                <a:ea typeface="Inter"/>
                <a:cs typeface="Inter"/>
                <a:sym typeface="Inter"/>
              </a:endParaRPr>
            </a:p>
            <a:p>
              <a:pPr indent="0" lvl="0" marL="0" rtl="0" algn="ctr">
                <a:spcBef>
                  <a:spcPts val="0"/>
                </a:spcBef>
                <a:spcAft>
                  <a:spcPts val="0"/>
                </a:spcAft>
                <a:buNone/>
              </a:pPr>
              <a:r>
                <a:rPr lang="en-US" sz="950">
                  <a:solidFill>
                    <a:srgbClr val="0284C7"/>
                  </a:solidFill>
                  <a:latin typeface="Inter"/>
                  <a:ea typeface="Inter"/>
                  <a:cs typeface="Inter"/>
                  <a:sym typeface="Inter"/>
                </a:rPr>
                <a:t>Early Alignment (-84.2%)</a:t>
              </a:r>
              <a:endParaRPr sz="950">
                <a:solidFill>
                  <a:srgbClr val="0284C7"/>
                </a:solidFill>
                <a:latin typeface="Inter"/>
                <a:ea typeface="Inter"/>
                <a:cs typeface="Inter"/>
                <a:sym typeface="Inter"/>
              </a:endParaRPr>
            </a:p>
            <a:p>
              <a:pPr indent="0" lvl="0" marL="0" rtl="0" algn="ctr">
                <a:spcBef>
                  <a:spcPts val="150"/>
                </a:spcBef>
                <a:spcAft>
                  <a:spcPts val="0"/>
                </a:spcAft>
                <a:buNone/>
              </a:pPr>
              <a:r>
                <a:rPr b="1" lang="en-US" sz="1200">
                  <a:solidFill>
                    <a:srgbClr val="0F172A"/>
                  </a:solidFill>
                  <a:latin typeface="JetBrains Mono"/>
                  <a:ea typeface="JetBrains Mono"/>
                  <a:cs typeface="JetBrains Mono"/>
                  <a:sym typeface="JetBrains Mono"/>
                </a:rPr>
                <a:t>0.4249</a:t>
              </a:r>
              <a:endParaRPr b="1" sz="1200">
                <a:solidFill>
                  <a:srgbClr val="0F172A"/>
                </a:solidFill>
                <a:latin typeface="JetBrains Mono"/>
                <a:ea typeface="JetBrains Mono"/>
                <a:cs typeface="JetBrains Mono"/>
                <a:sym typeface="JetBrains Mono"/>
              </a:endParaRPr>
            </a:p>
          </p:txBody>
        </p:sp>
        <p:sp>
          <p:nvSpPr>
            <p:cNvPr id="215" name="Google Shape;215;p19"/>
            <p:cNvSpPr txBox="1"/>
            <p:nvPr/>
          </p:nvSpPr>
          <p:spPr>
            <a:xfrm>
              <a:off x="4953000" y="3076575"/>
              <a:ext cx="1905000" cy="8097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1" lang="en-US" sz="1100">
                  <a:solidFill>
                    <a:srgbClr val="0F172A"/>
                  </a:solidFill>
                  <a:latin typeface="Inter"/>
                  <a:ea typeface="Inter"/>
                  <a:cs typeface="Inter"/>
                  <a:sym typeface="Inter"/>
                </a:rPr>
                <a:t>Step 100</a:t>
              </a:r>
              <a:endParaRPr b="1" sz="1100">
                <a:solidFill>
                  <a:srgbClr val="0F172A"/>
                </a:solidFill>
                <a:latin typeface="Inter"/>
                <a:ea typeface="Inter"/>
                <a:cs typeface="Inter"/>
                <a:sym typeface="Inter"/>
              </a:endParaRPr>
            </a:p>
            <a:p>
              <a:pPr indent="0" lvl="0" marL="0" rtl="0" algn="ctr">
                <a:spcBef>
                  <a:spcPts val="0"/>
                </a:spcBef>
                <a:spcAft>
                  <a:spcPts val="0"/>
                </a:spcAft>
                <a:buNone/>
              </a:pPr>
              <a:r>
                <a:rPr lang="en-US" sz="950">
                  <a:solidFill>
                    <a:srgbClr val="0284C7"/>
                  </a:solidFill>
                  <a:latin typeface="Inter"/>
                  <a:ea typeface="Inter"/>
                  <a:cs typeface="Inter"/>
                  <a:sym typeface="Inter"/>
                </a:rPr>
                <a:t>Epoch 1 Completion (-93.3%)</a:t>
              </a:r>
              <a:endParaRPr sz="950">
                <a:solidFill>
                  <a:srgbClr val="0284C7"/>
                </a:solidFill>
                <a:latin typeface="Inter"/>
                <a:ea typeface="Inter"/>
                <a:cs typeface="Inter"/>
                <a:sym typeface="Inter"/>
              </a:endParaRPr>
            </a:p>
            <a:p>
              <a:pPr indent="0" lvl="0" marL="0" rtl="0" algn="ctr">
                <a:spcBef>
                  <a:spcPts val="150"/>
                </a:spcBef>
                <a:spcAft>
                  <a:spcPts val="0"/>
                </a:spcAft>
                <a:buNone/>
              </a:pPr>
              <a:r>
                <a:rPr b="1" lang="en-US" sz="1200">
                  <a:solidFill>
                    <a:srgbClr val="0F172A"/>
                  </a:solidFill>
                  <a:latin typeface="JetBrains Mono"/>
                  <a:ea typeface="JetBrains Mono"/>
                  <a:cs typeface="JetBrains Mono"/>
                  <a:sym typeface="JetBrains Mono"/>
                </a:rPr>
                <a:t>0.1782</a:t>
              </a:r>
              <a:endParaRPr b="1" sz="1200">
                <a:solidFill>
                  <a:srgbClr val="0F172A"/>
                </a:solidFill>
                <a:latin typeface="JetBrains Mono"/>
                <a:ea typeface="JetBrains Mono"/>
                <a:cs typeface="JetBrains Mono"/>
                <a:sym typeface="JetBrains Mono"/>
              </a:endParaRPr>
            </a:p>
          </p:txBody>
        </p:sp>
        <p:sp>
          <p:nvSpPr>
            <p:cNvPr id="216" name="Google Shape;216;p19"/>
            <p:cNvSpPr txBox="1"/>
            <p:nvPr/>
          </p:nvSpPr>
          <p:spPr>
            <a:xfrm>
              <a:off x="9525000" y="3124200"/>
              <a:ext cx="1905000" cy="8382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1" lang="en-US" sz="1100">
                  <a:solidFill>
                    <a:srgbClr val="059669"/>
                  </a:solidFill>
                  <a:latin typeface="Inter"/>
                  <a:ea typeface="Inter"/>
                  <a:cs typeface="Inter"/>
                  <a:sym typeface="Inter"/>
                </a:rPr>
                <a:t>Step 200</a:t>
              </a:r>
              <a:endParaRPr b="1" sz="1100">
                <a:solidFill>
                  <a:srgbClr val="059669"/>
                </a:solidFill>
                <a:latin typeface="Inter"/>
                <a:ea typeface="Inter"/>
                <a:cs typeface="Inter"/>
                <a:sym typeface="Inter"/>
              </a:endParaRPr>
            </a:p>
            <a:p>
              <a:pPr indent="0" lvl="0" marL="0" rtl="0" algn="ctr">
                <a:spcBef>
                  <a:spcPts val="0"/>
                </a:spcBef>
                <a:spcAft>
                  <a:spcPts val="0"/>
                </a:spcAft>
                <a:buNone/>
              </a:pPr>
              <a:r>
                <a:rPr lang="en-US" sz="950">
                  <a:solidFill>
                    <a:srgbClr val="059669"/>
                  </a:solidFill>
                  <a:latin typeface="Inter"/>
                  <a:ea typeface="Inter"/>
                  <a:cs typeface="Inter"/>
                  <a:sym typeface="Inter"/>
                </a:rPr>
                <a:t>Final Converged (-96.7%)</a:t>
              </a:r>
              <a:endParaRPr sz="950">
                <a:solidFill>
                  <a:srgbClr val="059669"/>
                </a:solidFill>
                <a:latin typeface="Inter"/>
                <a:ea typeface="Inter"/>
                <a:cs typeface="Inter"/>
                <a:sym typeface="Inter"/>
              </a:endParaRPr>
            </a:p>
            <a:p>
              <a:pPr indent="0" lvl="0" marL="0" rtl="0" algn="ctr">
                <a:spcBef>
                  <a:spcPts val="150"/>
                </a:spcBef>
                <a:spcAft>
                  <a:spcPts val="0"/>
                </a:spcAft>
                <a:buNone/>
              </a:pPr>
              <a:r>
                <a:rPr b="1" lang="en-US" sz="1250">
                  <a:solidFill>
                    <a:srgbClr val="059669"/>
                  </a:solidFill>
                  <a:latin typeface="JetBrains Mono"/>
                  <a:ea typeface="JetBrains Mono"/>
                  <a:cs typeface="JetBrains Mono"/>
                  <a:sym typeface="JetBrains Mono"/>
                </a:rPr>
                <a:t>0.0883</a:t>
              </a:r>
              <a:endParaRPr b="1" sz="1250">
                <a:solidFill>
                  <a:srgbClr val="059669"/>
                </a:solidFill>
                <a:latin typeface="JetBrains Mono"/>
                <a:ea typeface="JetBrains Mono"/>
                <a:cs typeface="JetBrains Mono"/>
                <a:sym typeface="JetBrains Mono"/>
              </a:endParaRPr>
            </a:p>
          </p:txBody>
        </p:sp>
        <p:sp>
          <p:nvSpPr>
            <p:cNvPr id="217" name="Google Shape;217;p19"/>
            <p:cNvSpPr txBox="1"/>
            <p:nvPr/>
          </p:nvSpPr>
          <p:spPr>
            <a:xfrm>
              <a:off x="1186872" y="4221480"/>
              <a:ext cx="388500" cy="169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25">
                  <a:solidFill>
                    <a:srgbClr val="64748B"/>
                  </a:solidFill>
                  <a:latin typeface="Inter SemiBold"/>
                  <a:ea typeface="Inter SemiBold"/>
                  <a:cs typeface="Inter SemiBold"/>
                  <a:sym typeface="Inter SemiBold"/>
                </a:rPr>
                <a:t>Step 1</a:t>
              </a:r>
              <a:endParaRPr b="0" sz="825">
                <a:solidFill>
                  <a:srgbClr val="64748B"/>
                </a:solidFill>
                <a:latin typeface="Inter SemiBold"/>
                <a:ea typeface="Inter SemiBold"/>
                <a:cs typeface="Inter SemiBold"/>
                <a:sym typeface="Inter SemiBold"/>
              </a:endParaRPr>
            </a:p>
          </p:txBody>
        </p:sp>
        <p:sp>
          <p:nvSpPr>
            <p:cNvPr id="218" name="Google Shape;218;p19"/>
            <p:cNvSpPr txBox="1"/>
            <p:nvPr/>
          </p:nvSpPr>
          <p:spPr>
            <a:xfrm>
              <a:off x="3392872" y="4221480"/>
              <a:ext cx="453300" cy="169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25">
                  <a:solidFill>
                    <a:srgbClr val="64748B"/>
                  </a:solidFill>
                  <a:latin typeface="Inter SemiBold"/>
                  <a:ea typeface="Inter SemiBold"/>
                  <a:cs typeface="Inter SemiBold"/>
                  <a:sym typeface="Inter SemiBold"/>
                </a:rPr>
                <a:t>Step 50</a:t>
              </a:r>
              <a:endParaRPr b="0" sz="825">
                <a:solidFill>
                  <a:srgbClr val="64748B"/>
                </a:solidFill>
                <a:latin typeface="Inter SemiBold"/>
                <a:ea typeface="Inter SemiBold"/>
                <a:cs typeface="Inter SemiBold"/>
                <a:sym typeface="Inter SemiBold"/>
              </a:endParaRPr>
            </a:p>
          </p:txBody>
        </p:sp>
        <p:sp>
          <p:nvSpPr>
            <p:cNvPr id="219" name="Google Shape;219;p19"/>
            <p:cNvSpPr txBox="1"/>
            <p:nvPr/>
          </p:nvSpPr>
          <p:spPr>
            <a:xfrm>
              <a:off x="5646496" y="4221480"/>
              <a:ext cx="518100" cy="169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25">
                  <a:solidFill>
                    <a:srgbClr val="64748B"/>
                  </a:solidFill>
                  <a:latin typeface="Inter SemiBold"/>
                  <a:ea typeface="Inter SemiBold"/>
                  <a:cs typeface="Inter SemiBold"/>
                  <a:sym typeface="Inter SemiBold"/>
                </a:rPr>
                <a:t>Step 100</a:t>
              </a:r>
              <a:endParaRPr b="0" sz="825">
                <a:solidFill>
                  <a:srgbClr val="64748B"/>
                </a:solidFill>
                <a:latin typeface="Inter SemiBold"/>
                <a:ea typeface="Inter SemiBold"/>
                <a:cs typeface="Inter SemiBold"/>
                <a:sym typeface="Inter SemiBold"/>
              </a:endParaRPr>
            </a:p>
          </p:txBody>
        </p:sp>
        <p:sp>
          <p:nvSpPr>
            <p:cNvPr id="220" name="Google Shape;220;p19"/>
            <p:cNvSpPr txBox="1"/>
            <p:nvPr/>
          </p:nvSpPr>
          <p:spPr>
            <a:xfrm>
              <a:off x="10218515" y="4221480"/>
              <a:ext cx="518100" cy="169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25">
                  <a:solidFill>
                    <a:srgbClr val="059669"/>
                  </a:solidFill>
                  <a:latin typeface="Inter"/>
                  <a:ea typeface="Inter"/>
                  <a:cs typeface="Inter"/>
                  <a:sym typeface="Inter"/>
                </a:rPr>
                <a:t>Step 200</a:t>
              </a:r>
              <a:endParaRPr b="1" sz="825">
                <a:solidFill>
                  <a:srgbClr val="059669"/>
                </a:solidFill>
                <a:latin typeface="Inter"/>
                <a:ea typeface="Inter"/>
                <a:cs typeface="Inter"/>
                <a:sym typeface="Inte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20"/>
          <p:cNvSpPr/>
          <p:nvPr/>
        </p:nvSpPr>
        <p:spPr>
          <a:xfrm>
            <a:off x="609600" y="2925960"/>
            <a:ext cx="2400300" cy="1438275"/>
          </a:xfrm>
          <a:prstGeom prst="roundRect">
            <a:avLst>
              <a:gd fmla="val 662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20"/>
          <p:cNvSpPr/>
          <p:nvPr/>
        </p:nvSpPr>
        <p:spPr>
          <a:xfrm>
            <a:off x="3467100" y="3021210"/>
            <a:ext cx="2400300" cy="1247775"/>
          </a:xfrm>
          <a:prstGeom prst="roundRect">
            <a:avLst>
              <a:gd fmla="val 7633"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20"/>
          <p:cNvSpPr/>
          <p:nvPr/>
        </p:nvSpPr>
        <p:spPr>
          <a:xfrm>
            <a:off x="6324600" y="2925960"/>
            <a:ext cx="2400300" cy="1438275"/>
          </a:xfrm>
          <a:prstGeom prst="roundRect">
            <a:avLst>
              <a:gd fmla="val 662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20"/>
          <p:cNvSpPr/>
          <p:nvPr/>
        </p:nvSpPr>
        <p:spPr>
          <a:xfrm>
            <a:off x="9182100" y="3021210"/>
            <a:ext cx="2400300" cy="1247775"/>
          </a:xfrm>
          <a:prstGeom prst="roundRect">
            <a:avLst>
              <a:gd fmla="val 7633"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29" name="Google Shape;229;p20"/>
          <p:cNvPicPr preferRelativeResize="0"/>
          <p:nvPr/>
        </p:nvPicPr>
        <p:blipFill rotWithShape="1">
          <a:blip r:embed="rId3">
            <a:alphaModFix/>
          </a:blip>
          <a:srcRect b="0" l="0" r="0" t="0"/>
          <a:stretch/>
        </p:blipFill>
        <p:spPr>
          <a:xfrm>
            <a:off x="3162300" y="3564135"/>
            <a:ext cx="152400" cy="171450"/>
          </a:xfrm>
          <a:prstGeom prst="rect">
            <a:avLst/>
          </a:prstGeom>
          <a:noFill/>
          <a:ln>
            <a:noFill/>
          </a:ln>
        </p:spPr>
      </p:pic>
      <p:pic>
        <p:nvPicPr>
          <p:cNvPr descr="image.png" id="230" name="Google Shape;230;p20"/>
          <p:cNvPicPr preferRelativeResize="0"/>
          <p:nvPr/>
        </p:nvPicPr>
        <p:blipFill rotWithShape="1">
          <a:blip r:embed="rId3">
            <a:alphaModFix/>
          </a:blip>
          <a:srcRect b="0" l="0" r="0" t="0"/>
          <a:stretch/>
        </p:blipFill>
        <p:spPr>
          <a:xfrm>
            <a:off x="6019800" y="3564135"/>
            <a:ext cx="152400" cy="171450"/>
          </a:xfrm>
          <a:prstGeom prst="rect">
            <a:avLst/>
          </a:prstGeom>
          <a:noFill/>
          <a:ln>
            <a:noFill/>
          </a:ln>
        </p:spPr>
      </p:pic>
      <p:pic>
        <p:nvPicPr>
          <p:cNvPr descr="image.png" id="231" name="Google Shape;231;p20"/>
          <p:cNvPicPr preferRelativeResize="0"/>
          <p:nvPr/>
        </p:nvPicPr>
        <p:blipFill rotWithShape="1">
          <a:blip r:embed="rId3">
            <a:alphaModFix/>
          </a:blip>
          <a:srcRect b="0" l="0" r="0" t="0"/>
          <a:stretch/>
        </p:blipFill>
        <p:spPr>
          <a:xfrm>
            <a:off x="8877300" y="3564135"/>
            <a:ext cx="152400" cy="171450"/>
          </a:xfrm>
          <a:prstGeom prst="rect">
            <a:avLst/>
          </a:prstGeom>
          <a:noFill/>
          <a:ln>
            <a:noFill/>
          </a:ln>
        </p:spPr>
      </p:pic>
      <p:pic>
        <p:nvPicPr>
          <p:cNvPr descr="image.png" id="232" name="Google Shape;232;p20"/>
          <p:cNvPicPr preferRelativeResize="0"/>
          <p:nvPr/>
        </p:nvPicPr>
        <p:blipFill rotWithShape="1">
          <a:blip r:embed="rId4">
            <a:alphaModFix/>
          </a:blip>
          <a:srcRect b="0" l="0" r="0" t="0"/>
          <a:stretch/>
        </p:blipFill>
        <p:spPr>
          <a:xfrm>
            <a:off x="1704975" y="3173610"/>
            <a:ext cx="209550" cy="209550"/>
          </a:xfrm>
          <a:prstGeom prst="rect">
            <a:avLst/>
          </a:prstGeom>
          <a:noFill/>
          <a:ln>
            <a:noFill/>
          </a:ln>
        </p:spPr>
      </p:pic>
      <p:pic>
        <p:nvPicPr>
          <p:cNvPr descr="image.png" id="233" name="Google Shape;233;p20"/>
          <p:cNvPicPr preferRelativeResize="0"/>
          <p:nvPr/>
        </p:nvPicPr>
        <p:blipFill rotWithShape="1">
          <a:blip r:embed="rId5">
            <a:alphaModFix/>
          </a:blip>
          <a:srcRect b="0" l="0" r="0" t="0"/>
          <a:stretch/>
        </p:blipFill>
        <p:spPr>
          <a:xfrm>
            <a:off x="4586287" y="3268860"/>
            <a:ext cx="161925" cy="209550"/>
          </a:xfrm>
          <a:prstGeom prst="rect">
            <a:avLst/>
          </a:prstGeom>
          <a:noFill/>
          <a:ln>
            <a:noFill/>
          </a:ln>
        </p:spPr>
      </p:pic>
      <p:pic>
        <p:nvPicPr>
          <p:cNvPr descr="image.png" id="234" name="Google Shape;234;p20"/>
          <p:cNvPicPr preferRelativeResize="0"/>
          <p:nvPr/>
        </p:nvPicPr>
        <p:blipFill rotWithShape="1">
          <a:blip r:embed="rId6">
            <a:alphaModFix/>
          </a:blip>
          <a:srcRect b="0" l="0" r="0" t="0"/>
          <a:stretch/>
        </p:blipFill>
        <p:spPr>
          <a:xfrm>
            <a:off x="7405687" y="3173610"/>
            <a:ext cx="238125" cy="209550"/>
          </a:xfrm>
          <a:prstGeom prst="rect">
            <a:avLst/>
          </a:prstGeom>
          <a:noFill/>
          <a:ln>
            <a:noFill/>
          </a:ln>
        </p:spPr>
      </p:pic>
      <p:sp>
        <p:nvSpPr>
          <p:cNvPr id="235" name="Google Shape;235;p20"/>
          <p:cNvSpPr txBox="1"/>
          <p:nvPr/>
        </p:nvSpPr>
        <p:spPr>
          <a:xfrm>
            <a:off x="609600" y="457200"/>
            <a:ext cx="115824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Inter"/>
                <a:ea typeface="Inter"/>
                <a:cs typeface="Inter"/>
                <a:sym typeface="Inter"/>
              </a:rPr>
              <a:t>EXECUTION PIPELINE</a:t>
            </a:r>
            <a:endParaRPr/>
          </a:p>
        </p:txBody>
      </p:sp>
      <p:sp>
        <p:nvSpPr>
          <p:cNvPr id="236" name="Google Shape;236;p20"/>
          <p:cNvSpPr txBox="1"/>
          <p:nvPr/>
        </p:nvSpPr>
        <p:spPr>
          <a:xfrm>
            <a:off x="609600" y="695325"/>
            <a:ext cx="11582400" cy="365670"/>
          </a:xfrm>
          <a:prstGeom prst="rect">
            <a:avLst/>
          </a:prstGeom>
          <a:noFill/>
          <a:ln>
            <a:noFill/>
          </a:ln>
        </p:spPr>
        <p:txBody>
          <a:bodyPr anchorCtr="0" anchor="t" bIns="0" lIns="0" spcFirstLastPara="1" rIns="0" wrap="square" tIns="0">
            <a:spAutoFit/>
          </a:bodyPr>
          <a:lstStyle/>
          <a:p>
            <a:r>
              <a:rPr sz="2400" b="1" i="0">
                <a:solidFill>
                  <a:srgbClr val="0F172A"/>
                </a:solidFill>
                <a:latin typeface="Space Grotesk"/>
              </a:rPr>
              <a:t>LangGraph StateGraph Execution Pipeline</a:t>
            </a:r>
          </a:p>
        </p:txBody>
      </p:sp>
      <p:sp>
        <p:nvSpPr>
          <p:cNvPr id="237" name="Google Shape;237;p20"/>
          <p:cNvSpPr txBox="1"/>
          <p:nvPr/>
        </p:nvSpPr>
        <p:spPr>
          <a:xfrm>
            <a:off x="434578" y="3478410"/>
            <a:ext cx="2750343" cy="219075"/>
          </a:xfrm>
          <a:prstGeom prst="rect">
            <a:avLst/>
          </a:prstGeom>
          <a:noFill/>
          <a:ln>
            <a:noFill/>
          </a:ln>
        </p:spPr>
        <p:txBody>
          <a:bodyPr anchorCtr="0" anchor="t" bIns="0" lIns="0" spcFirstLastPara="1" rIns="0" wrap="square" tIns="0">
            <a:spAutoFit/>
          </a:bodyPr>
          <a:lstStyle/>
          <a:p>
            <a:r>
              <a:rPr sz="1350" b="1" i="0">
                <a:solidFill>
                  <a:srgbClr val="0F172A"/>
                </a:solidFill>
                <a:latin typeface="Space Grotesk"/>
              </a:rPr>
              <a:t>1. Retrieve</a:t>
            </a:r>
          </a:p>
        </p:txBody>
      </p:sp>
      <p:sp>
        <p:nvSpPr>
          <p:cNvPr id="238" name="Google Shape;238;p20"/>
          <p:cNvSpPr txBox="1"/>
          <p:nvPr/>
        </p:nvSpPr>
        <p:spPr>
          <a:xfrm>
            <a:off x="500062" y="3754635"/>
            <a:ext cx="2619375" cy="381000"/>
          </a:xfrm>
          <a:prstGeom prst="rect">
            <a:avLst/>
          </a:prstGeom>
          <a:noFill/>
          <a:ln>
            <a:noFill/>
          </a:ln>
        </p:spPr>
        <p:txBody>
          <a:bodyPr anchorCtr="0" anchor="t" bIns="0" lIns="0" spcFirstLastPara="1" rIns="0" wrap="square" tIns="0">
            <a:spAutoFit/>
          </a:bodyPr>
          <a:lstStyle/>
          <a:p>
            <a:r>
              <a:rPr sz="1200" b="0" i="0">
                <a:solidFill>
                  <a:srgbClr val="64748B"/>
                </a:solidFill>
                <a:latin typeface="Inter"/>
              </a:rPr>
              <a:t>ChromaDB top-k=2 semantic match with Cosine Distance Guardrail (τ = 0.65).</a:t>
            </a:r>
          </a:p>
        </p:txBody>
      </p:sp>
      <p:sp>
        <p:nvSpPr>
          <p:cNvPr id="239" name="Google Shape;239;p20"/>
          <p:cNvSpPr txBox="1"/>
          <p:nvPr/>
        </p:nvSpPr>
        <p:spPr>
          <a:xfrm>
            <a:off x="3292078" y="3573660"/>
            <a:ext cx="2750343" cy="219075"/>
          </a:xfrm>
          <a:prstGeom prst="rect">
            <a:avLst/>
          </a:prstGeom>
          <a:noFill/>
          <a:ln>
            <a:noFill/>
          </a:ln>
        </p:spPr>
        <p:txBody>
          <a:bodyPr anchorCtr="0" anchor="t" bIns="0" lIns="0" spcFirstLastPara="1" rIns="0" wrap="square" tIns="0">
            <a:spAutoFit/>
          </a:bodyPr>
          <a:lstStyle/>
          <a:p>
            <a:r>
              <a:rPr sz="1350" b="1" i="0">
                <a:solidFill>
                  <a:srgbClr val="0F172A"/>
                </a:solidFill>
                <a:latin typeface="Space Grotesk"/>
              </a:rPr>
              <a:t>2. Format</a:t>
            </a:r>
          </a:p>
        </p:txBody>
      </p:sp>
      <p:sp>
        <p:nvSpPr>
          <p:cNvPr id="240" name="Google Shape;240;p20"/>
          <p:cNvSpPr txBox="1"/>
          <p:nvPr/>
        </p:nvSpPr>
        <p:spPr>
          <a:xfrm>
            <a:off x="3357562" y="3849885"/>
            <a:ext cx="2619375" cy="190500"/>
          </a:xfrm>
          <a:prstGeom prst="rect">
            <a:avLst/>
          </a:prstGeom>
          <a:noFill/>
          <a:ln>
            <a:noFill/>
          </a:ln>
        </p:spPr>
        <p:txBody>
          <a:bodyPr anchorCtr="0" anchor="t" bIns="0" lIns="0" spcFirstLastPara="1" rIns="0" wrap="square" tIns="0">
            <a:spAutoFit/>
          </a:bodyPr>
          <a:lstStyle/>
          <a:p>
            <a:r>
              <a:rPr sz="1200" b="0" i="0">
                <a:solidFill>
                  <a:srgbClr val="64748B"/>
                </a:solidFill>
                <a:latin typeface="Inter"/>
              </a:rPr>
              <a:t>Injects worker classification, timecard logs, and retrieved contract clauses into ChatML.</a:t>
            </a:r>
          </a:p>
        </p:txBody>
      </p:sp>
      <p:sp>
        <p:nvSpPr>
          <p:cNvPr id="241" name="Google Shape;241;p20"/>
          <p:cNvSpPr txBox="1"/>
          <p:nvPr/>
        </p:nvSpPr>
        <p:spPr>
          <a:xfrm>
            <a:off x="6149578" y="3478410"/>
            <a:ext cx="2750343" cy="219075"/>
          </a:xfrm>
          <a:prstGeom prst="rect">
            <a:avLst/>
          </a:prstGeom>
          <a:noFill/>
          <a:ln>
            <a:noFill/>
          </a:ln>
        </p:spPr>
        <p:txBody>
          <a:bodyPr anchorCtr="0" anchor="t" bIns="0" lIns="0" spcFirstLastPara="1" rIns="0" wrap="square" tIns="0">
            <a:spAutoFit/>
          </a:bodyPr>
          <a:lstStyle/>
          <a:p>
            <a:r>
              <a:rPr sz="1350" b="1" i="0">
                <a:solidFill>
                  <a:srgbClr val="0F172A"/>
                </a:solidFill>
                <a:latin typeface="Space Grotesk"/>
              </a:rPr>
              <a:t>3. Generate</a:t>
            </a:r>
          </a:p>
        </p:txBody>
      </p:sp>
      <p:sp>
        <p:nvSpPr>
          <p:cNvPr id="242" name="Google Shape;242;p20"/>
          <p:cNvSpPr txBox="1"/>
          <p:nvPr/>
        </p:nvSpPr>
        <p:spPr>
          <a:xfrm>
            <a:off x="6215062" y="3754635"/>
            <a:ext cx="2619375" cy="381000"/>
          </a:xfrm>
          <a:prstGeom prst="rect">
            <a:avLst/>
          </a:prstGeom>
          <a:noFill/>
          <a:ln>
            <a:noFill/>
          </a:ln>
        </p:spPr>
        <p:txBody>
          <a:bodyPr anchorCtr="0" anchor="t" bIns="0" lIns="0" spcFirstLastPara="1" rIns="0" wrap="square" tIns="0">
            <a:spAutoFit/>
          </a:bodyPr>
          <a:lstStyle/>
          <a:p>
            <a:r>
              <a:rPr sz="1200" b="0" i="0">
                <a:solidFill>
                  <a:srgbClr val="64748B"/>
                </a:solidFill>
                <a:latin typeface="Inter"/>
              </a:rPr>
              <a:t>Greedy LoRA token decoding (temperature=0.0, max_new_tokens=256) on edge CPU.</a:t>
            </a:r>
          </a:p>
        </p:txBody>
      </p:sp>
      <p:sp>
        <p:nvSpPr>
          <p:cNvPr id="243" name="Google Shape;243;p20"/>
          <p:cNvSpPr txBox="1"/>
          <p:nvPr/>
        </p:nvSpPr>
        <p:spPr>
          <a:xfrm>
            <a:off x="9007078" y="3573660"/>
            <a:ext cx="2750343" cy="219075"/>
          </a:xfrm>
          <a:prstGeom prst="rect">
            <a:avLst/>
          </a:prstGeom>
          <a:noFill/>
          <a:ln>
            <a:noFill/>
          </a:ln>
        </p:spPr>
        <p:txBody>
          <a:bodyPr anchorCtr="0" anchor="t" bIns="0" lIns="0" spcFirstLastPara="1" rIns="0" wrap="square" tIns="0">
            <a:spAutoFit/>
          </a:bodyPr>
          <a:lstStyle/>
          <a:p>
            <a:r>
              <a:rPr sz="1350" b="1" i="0">
                <a:solidFill>
                  <a:srgbClr val="0F172A"/>
                </a:solidFill>
                <a:latin typeface="Space Grotesk"/>
              </a:rPr>
              <a:t>4. Validate</a:t>
            </a:r>
          </a:p>
        </p:txBody>
      </p:sp>
      <p:sp>
        <p:nvSpPr>
          <p:cNvPr id="244" name="Google Shape;244;p20"/>
          <p:cNvSpPr txBox="1"/>
          <p:nvPr/>
        </p:nvSpPr>
        <p:spPr>
          <a:xfrm>
            <a:off x="9072562" y="3849885"/>
            <a:ext cx="2619375" cy="190500"/>
          </a:xfrm>
          <a:prstGeom prst="rect">
            <a:avLst/>
          </a:prstGeom>
          <a:noFill/>
          <a:ln>
            <a:noFill/>
          </a:ln>
        </p:spPr>
        <p:txBody>
          <a:bodyPr anchorCtr="0" anchor="t" bIns="0" lIns="0" spcFirstLastPara="1" rIns="0" wrap="square" tIns="0">
            <a:spAutoFit/>
          </a:bodyPr>
          <a:lstStyle/>
          <a:p>
            <a:r>
              <a:rPr sz="1200" b="0" i="0">
                <a:solidFill>
                  <a:srgbClr val="64748B"/>
                </a:solidFill>
                <a:latin typeface="Inter"/>
              </a:rPr>
              <a:t>Strips markdown fences, validates schema keys, checks numerical deltas; triggers fallback if invalid.</a:t>
            </a:r>
          </a:p>
        </p:txBody>
      </p:sp>
      <p:sp>
        <p:nvSpPr>
          <p:cNvPr id="245" name="Google Shape;245;p20"/>
          <p:cNvSpPr/>
          <p:nvPr/>
        </p:nvSpPr>
        <p:spPr>
          <a:xfrm>
            <a:off x="8915400" y="514350"/>
            <a:ext cx="2667000" cy="324000"/>
          </a:xfrm>
          <a:prstGeom prst="roundRect">
            <a:avLst>
              <a:gd fmla="val 1764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20"/>
          <p:cNvSpPr txBox="1"/>
          <p:nvPr/>
        </p:nvSpPr>
        <p:spPr>
          <a:xfrm>
            <a:off x="8915400" y="514350"/>
            <a:ext cx="26670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lang="en-US" sz="950">
                <a:solidFill>
                  <a:srgbClr val="475569"/>
                </a:solidFill>
                <a:latin typeface="Inter Medium"/>
                <a:ea typeface="Inter Medium"/>
                <a:cs typeface="Inter Medium"/>
                <a:sym typeface="Inter Medium"/>
              </a:rPr>
              <a:t>rag_pipeline.py</a:t>
            </a:r>
            <a:endParaRPr b="0" i="0" sz="950">
              <a:solidFill>
                <a:srgbClr val="475569"/>
              </a:solidFill>
              <a:latin typeface="Inter Medium"/>
              <a:ea typeface="Inter Medium"/>
              <a:cs typeface="Inter Medium"/>
              <a:sym typeface="Inter Medium"/>
            </a:endParaRPr>
          </a:p>
        </p:txBody>
      </p:sp>
      <p:pic>
        <p:nvPicPr>
          <p:cNvPr id="247" name="Google Shape;247;p20"/>
          <p:cNvPicPr preferRelativeResize="0"/>
          <p:nvPr/>
        </p:nvPicPr>
        <p:blipFill rotWithShape="1">
          <a:blip r:embed="rId7">
            <a:alphaModFix/>
          </a:blip>
          <a:srcRect b="0" l="0" r="0" t="0"/>
          <a:stretch/>
        </p:blipFill>
        <p:spPr>
          <a:xfrm>
            <a:off x="10290572" y="3268860"/>
            <a:ext cx="183300" cy="209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graphicFrame>
        <p:nvGraphicFramePr>
          <p:cNvPr id="252" name="Google Shape;252;p21"/>
          <p:cNvGraphicFramePr/>
          <p:nvPr/>
        </p:nvGraphicFramePr>
        <p:xfrm>
          <a:off x="533400" y="2498377"/>
          <a:ext cx="3000000" cy="3000000"/>
        </p:xfrm>
        <a:graphic>
          <a:graphicData uri="http://schemas.openxmlformats.org/drawingml/2006/table">
            <a:tbl>
              <a:tblPr>
                <a:noFill/>
                <a:tableStyleId>{6DBB202F-F7FE-407C-8C67-CBE91F6272E4}</a:tableStyleId>
              </a:tblPr>
              <a:tblGrid>
                <a:gridCol w="2816275"/>
                <a:gridCol w="1350775"/>
                <a:gridCol w="1490950"/>
                <a:gridCol w="1159675"/>
                <a:gridCol w="1172325"/>
                <a:gridCol w="981225"/>
                <a:gridCol w="1095825"/>
                <a:gridCol w="1058175"/>
              </a:tblGrid>
              <a:tr h="374650">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Model Configuration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JSON Valid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Union Match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Shift Acc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Precision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Recall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F1 Score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Latency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74650">
                <a:tc>
                  <a:txBody>
                    <a:bodyPr/>
                    <a:lstStyle/>
                    <a:p>
                      <a:pPr indent="0" lvl="0" marL="0" marR="0" rtl="0" algn="l">
                        <a:spcBef>
                          <a:spcPts val="0"/>
                        </a:spcBef>
                        <a:spcAft>
                          <a:spcPts val="0"/>
                        </a:spcAft>
                        <a:buNone/>
                      </a:pPr>
                      <a:r>
                        <a:rPr b="1" i="0" lang="en-US" sz="1125" u="none" cap="none" strike="noStrike">
                          <a:solidFill>
                            <a:srgbClr val="475569"/>
                          </a:solidFill>
                          <a:latin typeface="Inter"/>
                          <a:ea typeface="Inter"/>
                          <a:cs typeface="Inter"/>
                          <a:sym typeface="Inter"/>
                        </a:rPr>
                        <a:t>Qwen2.5-0.5B (Zero-Shot)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DC2626"/>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JetBrains Mono"/>
                          <a:ea typeface="JetBrains Mono"/>
                          <a:cs typeface="JetBrains Mono"/>
                          <a:sym typeface="JetBrains Mono"/>
                        </a:rPr>
                        <a:t>21.36s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74650">
                <a:tc>
                  <a:txBody>
                    <a:bodyPr/>
                    <a:lstStyle/>
                    <a:p>
                      <a:pPr indent="0" lvl="0" marL="0" marR="0" rtl="0" algn="l">
                        <a:spcBef>
                          <a:spcPts val="0"/>
                        </a:spcBef>
                        <a:spcAft>
                          <a:spcPts val="0"/>
                        </a:spcAft>
                        <a:buNone/>
                      </a:pPr>
                      <a:r>
                        <a:rPr b="1" i="0" lang="en-US" sz="1125" u="none" cap="none" strike="noStrike">
                          <a:solidFill>
                            <a:srgbClr val="475569"/>
                          </a:solidFill>
                          <a:latin typeface="Inter"/>
                          <a:ea typeface="Inter"/>
                          <a:cs typeface="Inter"/>
                          <a:sym typeface="Inter"/>
                        </a:rPr>
                        <a:t>Qwen2.5-0.5B + RAG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DC2626"/>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JetBrains Mono"/>
                          <a:ea typeface="JetBrains Mono"/>
                          <a:cs typeface="JetBrains Mono"/>
                          <a:sym typeface="JetBrains Mono"/>
                        </a:rPr>
                        <a:t>24.65s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74650">
                <a:tc>
                  <a:txBody>
                    <a:bodyPr/>
                    <a:lstStyle/>
                    <a:p>
                      <a:pPr indent="0" lvl="0" marL="0" marR="0" rtl="0" algn="l">
                        <a:spcBef>
                          <a:spcPts val="0"/>
                        </a:spcBef>
                        <a:spcAft>
                          <a:spcPts val="0"/>
                        </a:spcAft>
                        <a:buNone/>
                      </a:pPr>
                      <a:r>
                        <a:rPr b="1" i="0" lang="en-US" sz="1125" u="none" cap="none" strike="noStrike">
                          <a:solidFill>
                            <a:srgbClr val="475569"/>
                          </a:solidFill>
                          <a:latin typeface="Inter"/>
                          <a:ea typeface="Inter"/>
                          <a:cs typeface="Inter"/>
                          <a:sym typeface="Inter"/>
                        </a:rPr>
                        <a:t>SmolLM2-360M-Instruct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DC2626"/>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JetBrains Mono"/>
                          <a:ea typeface="JetBrains Mono"/>
                          <a:cs typeface="JetBrains Mono"/>
                          <a:sym typeface="JetBrains Mono"/>
                        </a:rPr>
                        <a:t>19.38s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74650">
                <a:tc>
                  <a:txBody>
                    <a:bodyPr/>
                    <a:lstStyle/>
                    <a:p>
                      <a:pPr indent="0" lvl="0" marL="0" marR="0" rtl="0" algn="l">
                        <a:spcBef>
                          <a:spcPts val="0"/>
                        </a:spcBef>
                        <a:spcAft>
                          <a:spcPts val="0"/>
                        </a:spcAft>
                        <a:buNone/>
                      </a:pPr>
                      <a:r>
                        <a:rPr b="1" i="0" lang="en-US" sz="1125" u="none" cap="none" strike="noStrike">
                          <a:solidFill>
                            <a:srgbClr val="0284C7"/>
                          </a:solidFill>
                          <a:latin typeface="Inter"/>
                          <a:ea typeface="Inter"/>
                          <a:cs typeface="Inter"/>
                          <a:sym typeface="Inter"/>
                        </a:rPr>
                        <a:t>Fine-Tuned LoRA (Ours)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1" i="0" lang="en-US" sz="1125" u="none" cap="none" strike="noStrike">
                          <a:solidFill>
                            <a:srgbClr val="0284C7"/>
                          </a:solidFill>
                          <a:latin typeface="Inter"/>
                          <a:ea typeface="Inter"/>
                          <a:cs typeface="Inter"/>
                          <a:sym typeface="Inter"/>
                        </a:rPr>
                        <a:t>75.0%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1" i="0" lang="en-US" sz="1125" u="none" cap="none" strike="noStrike">
                          <a:solidFill>
                            <a:srgbClr val="0284C7"/>
                          </a:solidFill>
                          <a:latin typeface="Inter"/>
                          <a:ea typeface="Inter"/>
                          <a:cs typeface="Inter"/>
                          <a:sym typeface="Inter"/>
                        </a:rPr>
                        <a:t>75.0%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1" i="0" lang="en-US" sz="1125" u="none" cap="none" strike="noStrike">
                          <a:solidFill>
                            <a:srgbClr val="0284C7"/>
                          </a:solidFill>
                          <a:latin typeface="Inter"/>
                          <a:ea typeface="Inter"/>
                          <a:cs typeface="Inter"/>
                          <a:sym typeface="Inter"/>
                        </a:rPr>
                        <a:t>75.0%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66.67%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30.77%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1" i="0" lang="en-US" sz="1125" u="none" cap="none" strike="noStrike">
                          <a:solidFill>
                            <a:srgbClr val="0284C7"/>
                          </a:solidFill>
                          <a:latin typeface="Inter"/>
                          <a:ea typeface="Inter"/>
                          <a:cs typeface="Inter"/>
                          <a:sym typeface="Inter"/>
                        </a:rPr>
                        <a:t>42.11%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JetBrains Mono"/>
                          <a:ea typeface="JetBrains Mono"/>
                          <a:cs typeface="JetBrains Mono"/>
                          <a:sym typeface="JetBrains Mono"/>
                        </a:rPr>
                        <a:t>21.42s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r>
              <a:tr h="374650">
                <a:tc>
                  <a:txBody>
                    <a:bodyPr/>
                    <a:lstStyle/>
                    <a:p>
                      <a:pPr indent="0" lvl="0" marL="0" marR="0" rtl="0" algn="l">
                        <a:spcBef>
                          <a:spcPts val="0"/>
                        </a:spcBef>
                        <a:spcAft>
                          <a:spcPts val="0"/>
                        </a:spcAft>
                        <a:buNone/>
                      </a:pPr>
                      <a:r>
                        <a:rPr b="1" i="0" lang="en-US" sz="1125" u="none" cap="none" strike="noStrike">
                          <a:solidFill>
                            <a:srgbClr val="059669"/>
                          </a:solidFill>
                          <a:latin typeface="Inter"/>
                          <a:ea typeface="Inter"/>
                          <a:cs typeface="Inter"/>
                          <a:sym typeface="Inter"/>
                        </a:rPr>
                        <a:t>Fine-Tuned LoRA + RAG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CFDF5"/>
                    </a:solidFill>
                  </a:tcPr>
                </a:tc>
                <a:tc>
                  <a:txBody>
                    <a:bodyPr/>
                    <a:lstStyle/>
                    <a:p>
                      <a:pPr indent="0" lvl="0" marL="0" marR="0" rtl="0" algn="l">
                        <a:spcBef>
                          <a:spcPts val="0"/>
                        </a:spcBef>
                        <a:spcAft>
                          <a:spcPts val="0"/>
                        </a:spcAft>
                        <a:buNone/>
                      </a:pPr>
                      <a:r>
                        <a:rPr b="0" i="0" lang="en-US" sz="1125" u="none" cap="none" strike="noStrike">
                          <a:solidFill>
                            <a:srgbClr val="EA580C"/>
                          </a:solidFill>
                          <a:latin typeface="Inter"/>
                          <a:ea typeface="Inter"/>
                          <a:cs typeface="Inter"/>
                          <a:sym typeface="Inter"/>
                        </a:rPr>
                        <a:t>12.5%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CFDF5"/>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12.5%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CFDF5"/>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12.5%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CFDF5"/>
                    </a:solidFill>
                  </a:tcPr>
                </a:tc>
                <a:tc>
                  <a:txBody>
                    <a:bodyPr/>
                    <a:lstStyle/>
                    <a:p>
                      <a:pPr indent="0" lvl="0" marL="0" marR="0" rtl="0" algn="l">
                        <a:spcBef>
                          <a:spcPts val="0"/>
                        </a:spcBef>
                        <a:spcAft>
                          <a:spcPts val="0"/>
                        </a:spcAft>
                        <a:buNone/>
                      </a:pPr>
                      <a:r>
                        <a:rPr b="1" i="0" lang="en-US" sz="1125" u="none" cap="none" strike="noStrike">
                          <a:solidFill>
                            <a:srgbClr val="059669"/>
                          </a:solidFill>
                          <a:latin typeface="Inter"/>
                          <a:ea typeface="Inter"/>
                          <a:cs typeface="Inter"/>
                          <a:sym typeface="Inter"/>
                        </a:rPr>
                        <a:t>100.0%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CFDF5"/>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7.69%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CFDF5"/>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14.29%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CFDF5"/>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JetBrains Mono"/>
                          <a:ea typeface="JetBrains Mono"/>
                          <a:cs typeface="JetBrains Mono"/>
                          <a:sym typeface="JetBrains Mono"/>
                        </a:rPr>
                        <a:t>24.45s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CFDF5"/>
                    </a:solidFill>
                  </a:tcPr>
                </a:tc>
              </a:tr>
            </a:tbl>
          </a:graphicData>
        </a:graphic>
      </p:graphicFrame>
      <p:sp>
        <p:nvSpPr>
          <p:cNvPr id="253" name="Google Shape;253;p21"/>
          <p:cNvSpPr txBox="1"/>
          <p:nvPr/>
        </p:nvSpPr>
        <p:spPr>
          <a:xfrm>
            <a:off x="533400" y="381000"/>
            <a:ext cx="116586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Inter"/>
                <a:ea typeface="Inter"/>
                <a:cs typeface="Inter"/>
                <a:sym typeface="Inter"/>
              </a:rPr>
              <a:t>EVALUATION &amp; BENCHMARKS</a:t>
            </a:r>
            <a:endParaRPr/>
          </a:p>
        </p:txBody>
      </p:sp>
      <p:sp>
        <p:nvSpPr>
          <p:cNvPr id="254" name="Google Shape;254;p21"/>
          <p:cNvSpPr txBox="1"/>
          <p:nvPr/>
        </p:nvSpPr>
        <p:spPr>
          <a:xfrm>
            <a:off x="533400" y="600075"/>
            <a:ext cx="11658600" cy="323100"/>
          </a:xfrm>
          <a:prstGeom prst="rect">
            <a:avLst/>
          </a:prstGeom>
          <a:noFill/>
          <a:ln>
            <a:noFill/>
          </a:ln>
        </p:spPr>
        <p:txBody>
          <a:bodyPr anchorCtr="0" anchor="t" bIns="0" lIns="0" spcFirstLastPara="1" rIns="0" wrap="square" tIns="0">
            <a:spAutoFit/>
          </a:bodyPr>
          <a:lstStyle/>
          <a:p>
            <a:r>
              <a:rPr sz="2100" b="1" i="0">
                <a:solidFill>
                  <a:srgbClr val="0F172A"/>
                </a:solidFill>
                <a:latin typeface="Space Grotesk"/>
              </a:rPr>
              <a:t>5-Way Model Performance Test #1 (Strict Syntactic Benchmark)</a:t>
            </a:r>
          </a:p>
        </p:txBody>
      </p:sp>
      <p:sp>
        <p:nvSpPr>
          <p:cNvPr id="255" name="Google Shape;255;p21"/>
          <p:cNvSpPr/>
          <p:nvPr/>
        </p:nvSpPr>
        <p:spPr>
          <a:xfrm>
            <a:off x="8915400" y="514350"/>
            <a:ext cx="2667000" cy="324000"/>
          </a:xfrm>
          <a:prstGeom prst="roundRect">
            <a:avLst>
              <a:gd fmla="val 1764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21"/>
          <p:cNvSpPr txBox="1"/>
          <p:nvPr/>
        </p:nvSpPr>
        <p:spPr>
          <a:xfrm>
            <a:off x="8915400" y="514350"/>
            <a:ext cx="26670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lang="en-US" sz="950">
                <a:solidFill>
                  <a:srgbClr val="475569"/>
                </a:solidFill>
                <a:latin typeface="Inter Medium"/>
                <a:ea typeface="Inter Medium"/>
                <a:cs typeface="Inter Medium"/>
                <a:sym typeface="Inter Medium"/>
              </a:rPr>
              <a:t>eval_harness.py</a:t>
            </a:r>
            <a:endParaRPr b="0" i="0" sz="950">
              <a:solidFill>
                <a:srgbClr val="475569"/>
              </a:solidFill>
              <a:latin typeface="Inter Medium"/>
              <a:ea typeface="Inter Medium"/>
              <a:cs typeface="Inter Medium"/>
              <a:sym typeface="Inter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graphicFrame>
        <p:nvGraphicFramePr>
          <p:cNvPr id="261" name="Google Shape;261;p22"/>
          <p:cNvGraphicFramePr/>
          <p:nvPr/>
        </p:nvGraphicFramePr>
        <p:xfrm>
          <a:off x="1877088" y="2460327"/>
          <a:ext cx="3000000" cy="3000000"/>
        </p:xfrm>
        <a:graphic>
          <a:graphicData uri="http://schemas.openxmlformats.org/drawingml/2006/table">
            <a:tbl>
              <a:tblPr>
                <a:noFill/>
                <a:tableStyleId>{6DBB202F-F7FE-407C-8C67-CBE91F6272E4}</a:tableStyleId>
              </a:tblPr>
              <a:tblGrid>
                <a:gridCol w="2816275"/>
                <a:gridCol w="1350775"/>
                <a:gridCol w="1490950"/>
                <a:gridCol w="1159675"/>
                <a:gridCol w="1172325"/>
                <a:gridCol w="981225"/>
              </a:tblGrid>
              <a:tr h="374650">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Model Configuration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JSON Valid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Union Match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Shift Acc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Clause Cit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Concept Recall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74650">
                <a:tc>
                  <a:txBody>
                    <a:bodyPr/>
                    <a:lstStyle/>
                    <a:p>
                      <a:pPr indent="0" lvl="0" marL="0" marR="0" rtl="0" algn="l">
                        <a:spcBef>
                          <a:spcPts val="0"/>
                        </a:spcBef>
                        <a:spcAft>
                          <a:spcPts val="0"/>
                        </a:spcAft>
                        <a:buNone/>
                      </a:pPr>
                      <a:r>
                        <a:rPr b="1" i="0" lang="en-US" sz="1125" u="none" cap="none" strike="noStrike">
                          <a:solidFill>
                            <a:srgbClr val="475569"/>
                          </a:solidFill>
                          <a:latin typeface="Inter"/>
                          <a:ea typeface="Inter"/>
                          <a:cs typeface="Inter"/>
                          <a:sym typeface="Inter"/>
                        </a:rPr>
                        <a:t>Qwen2.5-0.5B (Zero-Shot)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DC2626"/>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0F172A"/>
                          </a:solidFill>
                          <a:latin typeface="Inter"/>
                          <a:ea typeface="Inter"/>
                          <a:cs typeface="Inter"/>
                          <a:sym typeface="Inter"/>
                        </a:rPr>
                        <a:t>25.0%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0F172A"/>
                          </a:solidFill>
                          <a:latin typeface="Inter"/>
                          <a:ea typeface="Inter"/>
                          <a:cs typeface="Inter"/>
                          <a:sym typeface="Inter"/>
                        </a:rPr>
                        <a:t>25.0%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58.3%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74650">
                <a:tc>
                  <a:txBody>
                    <a:bodyPr/>
                    <a:lstStyle/>
                    <a:p>
                      <a:pPr indent="0" lvl="0" marL="0" marR="0" rtl="0" algn="l">
                        <a:spcBef>
                          <a:spcPts val="0"/>
                        </a:spcBef>
                        <a:spcAft>
                          <a:spcPts val="0"/>
                        </a:spcAft>
                        <a:buNone/>
                      </a:pPr>
                      <a:r>
                        <a:rPr b="1" i="0" lang="en-US" sz="1125" u="none" cap="none" strike="noStrike">
                          <a:solidFill>
                            <a:srgbClr val="475569"/>
                          </a:solidFill>
                          <a:latin typeface="Inter"/>
                          <a:ea typeface="Inter"/>
                          <a:cs typeface="Inter"/>
                          <a:sym typeface="Inter"/>
                        </a:rPr>
                        <a:t>Qwen2.5-0.5B + RAG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DC2626"/>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0F172A"/>
                          </a:solidFill>
                          <a:latin typeface="Inter"/>
                          <a:ea typeface="Inter"/>
                          <a:cs typeface="Inter"/>
                          <a:sym typeface="Inter"/>
                        </a:rPr>
                        <a:t>25.0%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0F172A"/>
                          </a:solidFill>
                          <a:latin typeface="Inter"/>
                          <a:ea typeface="Inter"/>
                          <a:cs typeface="Inter"/>
                          <a:sym typeface="Inter"/>
                        </a:rPr>
                        <a:t>50.0%</a:t>
                      </a:r>
                      <a:r>
                        <a:rPr b="0" i="0" lang="en-US" sz="1125" u="none" cap="none" strike="noStrike">
                          <a:solidFill>
                            <a:srgbClr val="0F172A"/>
                          </a:solidFill>
                          <a:latin typeface="Inter"/>
                          <a:ea typeface="Inter"/>
                          <a:cs typeface="Inter"/>
                          <a:sym typeface="Inter"/>
                        </a:rPr>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58.3%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74650">
                <a:tc>
                  <a:txBody>
                    <a:bodyPr/>
                    <a:lstStyle/>
                    <a:p>
                      <a:pPr indent="0" lvl="0" marL="0" marR="0" rtl="0" algn="l">
                        <a:spcBef>
                          <a:spcPts val="0"/>
                        </a:spcBef>
                        <a:spcAft>
                          <a:spcPts val="0"/>
                        </a:spcAft>
                        <a:buNone/>
                      </a:pPr>
                      <a:r>
                        <a:rPr b="1" i="0" lang="en-US" sz="1125" u="none" cap="none" strike="noStrike">
                          <a:solidFill>
                            <a:srgbClr val="475569"/>
                          </a:solidFill>
                          <a:latin typeface="Inter"/>
                          <a:ea typeface="Inter"/>
                          <a:cs typeface="Inter"/>
                          <a:sym typeface="Inter"/>
                        </a:rPr>
                        <a:t>SmolLM2-360M-Instruct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DC2626"/>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0F172A"/>
                          </a:solidFill>
                          <a:latin typeface="Inter"/>
                          <a:ea typeface="Inter"/>
                          <a:cs typeface="Inter"/>
                          <a:sym typeface="Inter"/>
                        </a:rPr>
                        <a:t>25.0%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0F172A"/>
                          </a:solidFill>
                          <a:latin typeface="Inter"/>
                          <a:ea typeface="Inter"/>
                          <a:cs typeface="Inter"/>
                          <a:sym typeface="Inter"/>
                        </a:rPr>
                        <a:t>25.0%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Inter"/>
                          <a:ea typeface="Inter"/>
                          <a:cs typeface="Inter"/>
                          <a:sym typeface="Inter"/>
                        </a:rPr>
                        <a:t>50.0%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74650">
                <a:tc>
                  <a:txBody>
                    <a:bodyPr/>
                    <a:lstStyle/>
                    <a:p>
                      <a:pPr indent="0" lvl="0" marL="0" marR="0" rtl="0" algn="l">
                        <a:spcBef>
                          <a:spcPts val="0"/>
                        </a:spcBef>
                        <a:spcAft>
                          <a:spcPts val="0"/>
                        </a:spcAft>
                        <a:buNone/>
                      </a:pPr>
                      <a:r>
                        <a:rPr b="1" i="0" lang="en-US" sz="1125" u="none" cap="none" strike="noStrike">
                          <a:solidFill>
                            <a:srgbClr val="0284C7"/>
                          </a:solidFill>
                          <a:latin typeface="Inter"/>
                          <a:ea typeface="Inter"/>
                          <a:cs typeface="Inter"/>
                          <a:sym typeface="Inter"/>
                        </a:rPr>
                        <a:t>Fine-Tuned LoRA (Ours)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1" lang="en-US" sz="1125">
                          <a:solidFill>
                            <a:srgbClr val="0284C7"/>
                          </a:solidFill>
                          <a:latin typeface="Inter"/>
                          <a:ea typeface="Inter"/>
                          <a:cs typeface="Inter"/>
                          <a:sym typeface="Inter"/>
                        </a:rPr>
                        <a:t>100.0%</a:t>
                      </a:r>
                      <a:r>
                        <a:rPr b="1" i="0" lang="en-US" sz="1125" u="none" cap="none" strike="noStrike">
                          <a:solidFill>
                            <a:srgbClr val="0284C7"/>
                          </a:solidFill>
                          <a:latin typeface="Inter"/>
                          <a:ea typeface="Inter"/>
                          <a:cs typeface="Inter"/>
                          <a:sym typeface="Inter"/>
                        </a:rPr>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1" lang="en-US" sz="1125">
                          <a:solidFill>
                            <a:srgbClr val="0284C7"/>
                          </a:solidFill>
                          <a:latin typeface="Inter"/>
                          <a:ea typeface="Inter"/>
                          <a:cs typeface="Inter"/>
                          <a:sym typeface="Inter"/>
                        </a:rPr>
                        <a:t>100.0%</a:t>
                      </a:r>
                      <a:r>
                        <a:rPr b="1" i="0" lang="en-US" sz="1125" u="none" cap="none" strike="noStrike">
                          <a:solidFill>
                            <a:srgbClr val="0284C7"/>
                          </a:solidFill>
                          <a:latin typeface="Inter"/>
                          <a:ea typeface="Inter"/>
                          <a:cs typeface="Inter"/>
                          <a:sym typeface="Inter"/>
                        </a:rPr>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1" lang="en-US" sz="1125">
                          <a:solidFill>
                            <a:srgbClr val="0284C7"/>
                          </a:solidFill>
                          <a:latin typeface="Inter"/>
                          <a:ea typeface="Inter"/>
                          <a:cs typeface="Inter"/>
                          <a:sym typeface="Inter"/>
                        </a:rPr>
                        <a:t>100.0%</a:t>
                      </a:r>
                      <a:r>
                        <a:rPr b="1" i="0" lang="en-US" sz="1125" u="none" cap="none" strike="noStrike">
                          <a:solidFill>
                            <a:srgbClr val="0284C7"/>
                          </a:solidFill>
                          <a:latin typeface="Inter"/>
                          <a:ea typeface="Inter"/>
                          <a:cs typeface="Inter"/>
                          <a:sym typeface="Inter"/>
                        </a:rPr>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1" lang="en-US" sz="1125">
                          <a:solidFill>
                            <a:srgbClr val="0284C7"/>
                          </a:solidFill>
                          <a:latin typeface="Inter"/>
                          <a:ea typeface="Inter"/>
                          <a:cs typeface="Inter"/>
                          <a:sym typeface="Inter"/>
                        </a:rPr>
                        <a:t>100.0%</a:t>
                      </a:r>
                      <a:r>
                        <a:rPr b="1" i="0" lang="en-US" sz="1125" u="none" cap="none" strike="noStrike">
                          <a:solidFill>
                            <a:srgbClr val="0284C7"/>
                          </a:solidFill>
                          <a:latin typeface="Inter"/>
                          <a:ea typeface="Inter"/>
                          <a:cs typeface="Inter"/>
                          <a:sym typeface="Inter"/>
                        </a:rPr>
                        <a:t/>
                      </a:r>
                      <a:endParaRPr b="1">
                        <a:solidFill>
                          <a:srgbClr val="0284C7"/>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lang="en-US" sz="1125">
                          <a:solidFill>
                            <a:srgbClr val="0F172A"/>
                          </a:solidFill>
                          <a:latin typeface="Inter"/>
                          <a:ea typeface="Inter"/>
                          <a:cs typeface="Inter"/>
                          <a:sym typeface="Inter"/>
                        </a:rPr>
                        <a:t>33.3%</a:t>
                      </a:r>
                      <a:r>
                        <a:rPr b="0" i="0" lang="en-US" sz="1125" u="none" cap="none" strike="noStrike">
                          <a:solidFill>
                            <a:srgbClr val="0F172A"/>
                          </a:solidFill>
                          <a:latin typeface="Inter"/>
                          <a:ea typeface="Inter"/>
                          <a:cs typeface="Inter"/>
                          <a:sym typeface="Inter"/>
                        </a:rPr>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r>
              <a:tr h="374650">
                <a:tc>
                  <a:txBody>
                    <a:bodyPr/>
                    <a:lstStyle/>
                    <a:p>
                      <a:pPr indent="0" lvl="0" marL="0" marR="0" rtl="0" algn="l">
                        <a:spcBef>
                          <a:spcPts val="0"/>
                        </a:spcBef>
                        <a:spcAft>
                          <a:spcPts val="0"/>
                        </a:spcAft>
                        <a:buNone/>
                      </a:pPr>
                      <a:r>
                        <a:rPr b="1" i="0" lang="en-US" sz="1125" u="none" cap="none" strike="noStrike">
                          <a:solidFill>
                            <a:srgbClr val="059669"/>
                          </a:solidFill>
                          <a:latin typeface="Inter"/>
                          <a:ea typeface="Inter"/>
                          <a:cs typeface="Inter"/>
                          <a:sym typeface="Inter"/>
                        </a:rPr>
                        <a:t>Fine-Tuned LoRA + RAG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CFDF5"/>
                    </a:solidFill>
                  </a:tcPr>
                </a:tc>
                <a:tc>
                  <a:txBody>
                    <a:bodyPr/>
                    <a:lstStyle/>
                    <a:p>
                      <a:pPr indent="0" lvl="0" marL="0" marR="0" rtl="0" algn="l">
                        <a:spcBef>
                          <a:spcPts val="0"/>
                        </a:spcBef>
                        <a:spcAft>
                          <a:spcPts val="0"/>
                        </a:spcAft>
                        <a:buNone/>
                      </a:pPr>
                      <a:r>
                        <a:rPr lang="en-US" sz="1125">
                          <a:solidFill>
                            <a:srgbClr val="059669"/>
                          </a:solidFill>
                          <a:latin typeface="Inter"/>
                          <a:ea typeface="Inter"/>
                          <a:cs typeface="Inter"/>
                          <a:sym typeface="Inter"/>
                        </a:rPr>
                        <a:t>75.0%</a:t>
                      </a:r>
                      <a:r>
                        <a:rPr i="0" lang="en-US" sz="1125" u="none" cap="none" strike="noStrike">
                          <a:solidFill>
                            <a:srgbClr val="059669"/>
                          </a:solidFill>
                          <a:latin typeface="Inter"/>
                          <a:ea typeface="Inter"/>
                          <a:cs typeface="Inter"/>
                          <a:sym typeface="Inter"/>
                        </a:rPr>
                        <a:t/>
                      </a:r>
                      <a:r>
                        <a:rPr lang="en-US" sz="1125">
                          <a:solidFill>
                            <a:srgbClr val="059669"/>
                          </a:solidFill>
                          <a:latin typeface="Inter"/>
                          <a:ea typeface="Inter"/>
                          <a:cs typeface="Inter"/>
                          <a:sym typeface="Inter"/>
                        </a:rPr>
                        <a:t/>
                      </a:r>
                      <a:r>
                        <a:rPr i="0" lang="en-US" sz="1125" u="none" cap="none" strike="noStrike">
                          <a:solidFill>
                            <a:srgbClr val="059669"/>
                          </a:solidFill>
                          <a:latin typeface="Inter"/>
                          <a:ea typeface="Inter"/>
                          <a:cs typeface="Inter"/>
                          <a:sym typeface="Inter"/>
                        </a:rPr>
                        <a:t/>
                      </a:r>
                      <a:endParaRPr>
                        <a:solidFill>
                          <a:srgbClr val="059669"/>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CFDF5"/>
                    </a:solidFill>
                  </a:tcPr>
                </a:tc>
                <a:tc>
                  <a:txBody>
                    <a:bodyPr/>
                    <a:lstStyle/>
                    <a:p>
                      <a:pPr indent="0" lvl="0" marL="0" marR="0" rtl="0" algn="l">
                        <a:spcBef>
                          <a:spcPts val="0"/>
                        </a:spcBef>
                        <a:spcAft>
                          <a:spcPts val="0"/>
                        </a:spcAft>
                        <a:buNone/>
                      </a:pPr>
                      <a:r>
                        <a:rPr b="1" lang="en-US" sz="1125">
                          <a:solidFill>
                            <a:srgbClr val="059669"/>
                          </a:solidFill>
                          <a:latin typeface="Inter"/>
                          <a:ea typeface="Inter"/>
                          <a:cs typeface="Inter"/>
                          <a:sym typeface="Inter"/>
                        </a:rPr>
                        <a:t>100.0%</a:t>
                      </a:r>
                      <a:r>
                        <a:rPr b="1" i="0" lang="en-US" sz="1125" u="none" cap="none" strike="noStrike">
                          <a:solidFill>
                            <a:srgbClr val="059669"/>
                          </a:solidFill>
                          <a:latin typeface="Inter"/>
                          <a:ea typeface="Inter"/>
                          <a:cs typeface="Inter"/>
                          <a:sym typeface="Inter"/>
                        </a:rPr>
                        <a:t/>
                      </a:r>
                      <a:endParaRPr b="1">
                        <a:solidFill>
                          <a:srgbClr val="059669"/>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CFDF5"/>
                    </a:solidFill>
                  </a:tcPr>
                </a:tc>
                <a:tc>
                  <a:txBody>
                    <a:bodyPr/>
                    <a:lstStyle/>
                    <a:p>
                      <a:pPr indent="0" lvl="0" marL="0" marR="0" rtl="0" algn="l">
                        <a:spcBef>
                          <a:spcPts val="0"/>
                        </a:spcBef>
                        <a:spcAft>
                          <a:spcPts val="0"/>
                        </a:spcAft>
                        <a:buNone/>
                      </a:pPr>
                      <a:r>
                        <a:rPr b="1" lang="en-US" sz="1125">
                          <a:solidFill>
                            <a:srgbClr val="059669"/>
                          </a:solidFill>
                          <a:latin typeface="Inter"/>
                          <a:ea typeface="Inter"/>
                          <a:cs typeface="Inter"/>
                          <a:sym typeface="Inter"/>
                        </a:rPr>
                        <a:t>100.0%</a:t>
                      </a:r>
                      <a:r>
                        <a:rPr b="1" i="0" lang="en-US" sz="1125" u="none" cap="none" strike="noStrike">
                          <a:solidFill>
                            <a:srgbClr val="059669"/>
                          </a:solidFill>
                          <a:latin typeface="Inter"/>
                          <a:ea typeface="Inter"/>
                          <a:cs typeface="Inter"/>
                          <a:sym typeface="Inter"/>
                        </a:rPr>
                        <a:t/>
                      </a:r>
                      <a:endParaRPr b="1">
                        <a:solidFill>
                          <a:srgbClr val="059669"/>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CFDF5"/>
                    </a:solidFill>
                  </a:tcPr>
                </a:tc>
                <a:tc>
                  <a:txBody>
                    <a:bodyPr/>
                    <a:lstStyle/>
                    <a:p>
                      <a:pPr indent="0" lvl="0" marL="0" marR="0" rtl="0" algn="l">
                        <a:spcBef>
                          <a:spcPts val="0"/>
                        </a:spcBef>
                        <a:spcAft>
                          <a:spcPts val="0"/>
                        </a:spcAft>
                        <a:buNone/>
                      </a:pPr>
                      <a:r>
                        <a:rPr lang="en-US" sz="1125">
                          <a:solidFill>
                            <a:srgbClr val="059669"/>
                          </a:solidFill>
                          <a:latin typeface="Inter"/>
                          <a:ea typeface="Inter"/>
                          <a:cs typeface="Inter"/>
                          <a:sym typeface="Inter"/>
                        </a:rPr>
                        <a:t>75.0%</a:t>
                      </a:r>
                      <a:r>
                        <a:rPr i="0" lang="en-US" sz="1125" u="none" cap="none" strike="noStrike">
                          <a:solidFill>
                            <a:srgbClr val="059669"/>
                          </a:solidFill>
                          <a:latin typeface="Inter"/>
                          <a:ea typeface="Inter"/>
                          <a:cs typeface="Inter"/>
                          <a:sym typeface="Inter"/>
                        </a:rPr>
                        <a:t/>
                      </a:r>
                      <a:endParaRPr>
                        <a:solidFill>
                          <a:srgbClr val="059669"/>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CFDF5"/>
                    </a:solidFill>
                  </a:tcPr>
                </a:tc>
                <a:tc>
                  <a:txBody>
                    <a:bodyPr/>
                    <a:lstStyle/>
                    <a:p>
                      <a:pPr indent="0" lvl="0" marL="0" marR="0" rtl="0" algn="l">
                        <a:spcBef>
                          <a:spcPts val="0"/>
                        </a:spcBef>
                        <a:spcAft>
                          <a:spcPts val="0"/>
                        </a:spcAft>
                        <a:buNone/>
                      </a:pPr>
                      <a:r>
                        <a:rPr b="1" lang="en-US" sz="1125">
                          <a:solidFill>
                            <a:srgbClr val="059669"/>
                          </a:solidFill>
                          <a:latin typeface="Inter"/>
                          <a:ea typeface="Inter"/>
                          <a:cs typeface="Inter"/>
                          <a:sym typeface="Inter"/>
                        </a:rPr>
                        <a:t>45.8%</a:t>
                      </a:r>
                      <a:r>
                        <a:rPr b="1" i="0" lang="en-US" sz="1125" u="none" cap="none" strike="noStrike">
                          <a:solidFill>
                            <a:srgbClr val="059669"/>
                          </a:solidFill>
                          <a:latin typeface="Inter"/>
                          <a:ea typeface="Inter"/>
                          <a:cs typeface="Inter"/>
                          <a:sym typeface="Inter"/>
                        </a:rPr>
                        <a:t/>
                      </a:r>
                      <a:endParaRPr b="1">
                        <a:solidFill>
                          <a:srgbClr val="059669"/>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CFDF5"/>
                    </a:solidFill>
                  </a:tcPr>
                </a:tc>
              </a:tr>
            </a:tbl>
          </a:graphicData>
        </a:graphic>
      </p:graphicFrame>
      <p:sp>
        <p:nvSpPr>
          <p:cNvPr id="262" name="Google Shape;262;p22"/>
          <p:cNvSpPr txBox="1"/>
          <p:nvPr/>
        </p:nvSpPr>
        <p:spPr>
          <a:xfrm>
            <a:off x="533400" y="381000"/>
            <a:ext cx="116586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Inter"/>
                <a:ea typeface="Inter"/>
                <a:cs typeface="Inter"/>
                <a:sym typeface="Inter"/>
              </a:rPr>
              <a:t>EVALUATION &amp; BENCHMARKS</a:t>
            </a:r>
            <a:endParaRPr/>
          </a:p>
        </p:txBody>
      </p:sp>
      <p:sp>
        <p:nvSpPr>
          <p:cNvPr id="263" name="Google Shape;263;p22"/>
          <p:cNvSpPr txBox="1"/>
          <p:nvPr/>
        </p:nvSpPr>
        <p:spPr>
          <a:xfrm>
            <a:off x="533400" y="600075"/>
            <a:ext cx="11658600" cy="323100"/>
          </a:xfrm>
          <a:prstGeom prst="rect">
            <a:avLst/>
          </a:prstGeom>
          <a:noFill/>
          <a:ln>
            <a:noFill/>
          </a:ln>
        </p:spPr>
        <p:txBody>
          <a:bodyPr anchorCtr="0" anchor="t" bIns="0" lIns="0" spcFirstLastPara="1" rIns="0" wrap="square" tIns="0">
            <a:spAutoFit/>
          </a:bodyPr>
          <a:lstStyle/>
          <a:p>
            <a:r>
              <a:rPr sz="2100" b="1" i="0">
                <a:solidFill>
                  <a:srgbClr val="0F172A"/>
                </a:solidFill>
                <a:latin typeface="Space Grotesk"/>
              </a:rPr>
              <a:t>5-Way Model Performance Test #2 (Semantic Domain Benchmark)</a:t>
            </a:r>
          </a:p>
        </p:txBody>
      </p:sp>
      <p:sp>
        <p:nvSpPr>
          <p:cNvPr id="264" name="Google Shape;264;p22"/>
          <p:cNvSpPr/>
          <p:nvPr/>
        </p:nvSpPr>
        <p:spPr>
          <a:xfrm>
            <a:off x="8915400" y="514350"/>
            <a:ext cx="2667000" cy="324000"/>
          </a:xfrm>
          <a:prstGeom prst="roundRect">
            <a:avLst>
              <a:gd fmla="val 1764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22"/>
          <p:cNvSpPr txBox="1"/>
          <p:nvPr/>
        </p:nvSpPr>
        <p:spPr>
          <a:xfrm>
            <a:off x="8915400" y="514350"/>
            <a:ext cx="2667000" cy="146100"/>
          </a:xfrm>
          <a:prstGeom prst="rect">
            <a:avLst/>
          </a:prstGeom>
          <a:solidFill>
            <a:srgbClr val="000000">
              <a:alpha val="0"/>
            </a:srgbClr>
          </a:solidFill>
          <a:ln>
            <a:noFill/>
          </a:ln>
        </p:spPr>
        <p:txBody>
          <a:bodyPr anchorCtr="0" anchor="ctr" bIns="0" lIns="0" spcFirstLastPara="1" rIns="0" wrap="square" tIns="0">
            <a:spAutoFit/>
          </a:bodyPr>
          <a:lstStyle/>
          <a:p>
            <a:r>
              <a:rPr sz="950">
                <a:solidFill>
                  <a:srgbClr val="475569"/>
                </a:solidFill>
                <a:latin typeface="Inter Medium"/>
              </a:rPr>
              <a:t>semantic_eval.py</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23"/>
          <p:cNvSpPr/>
          <p:nvPr/>
        </p:nvSpPr>
        <p:spPr>
          <a:xfrm>
            <a:off x="609600" y="2717601"/>
            <a:ext cx="3505200" cy="1854993"/>
          </a:xfrm>
          <a:prstGeom prst="roundRect">
            <a:avLst>
              <a:gd fmla="val 6161" name="adj"/>
            </a:avLst>
          </a:prstGeom>
          <a:solidFill>
            <a:srgbClr val="FE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23"/>
          <p:cNvSpPr/>
          <p:nvPr/>
        </p:nvSpPr>
        <p:spPr>
          <a:xfrm>
            <a:off x="4343400" y="2717601"/>
            <a:ext cx="3505200" cy="1854993"/>
          </a:xfrm>
          <a:prstGeom prst="roundRect">
            <a:avLst>
              <a:gd fmla="val 6161" name="adj"/>
            </a:avLst>
          </a:prstGeom>
          <a:solidFill>
            <a:srgbClr val="FFF7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23"/>
          <p:cNvSpPr/>
          <p:nvPr/>
        </p:nvSpPr>
        <p:spPr>
          <a:xfrm>
            <a:off x="8077200" y="2717601"/>
            <a:ext cx="3505200" cy="1854993"/>
          </a:xfrm>
          <a:prstGeom prst="roundRect">
            <a:avLst>
              <a:gd fmla="val 6161" name="adj"/>
            </a:avLst>
          </a:prstGeom>
          <a:solidFill>
            <a:srgbClr val="F0FD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23"/>
          <p:cNvSpPr/>
          <p:nvPr/>
        </p:nvSpPr>
        <p:spPr>
          <a:xfrm>
            <a:off x="609600" y="2717601"/>
            <a:ext cx="38100" cy="1854993"/>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3"/>
          <p:cNvSpPr/>
          <p:nvPr/>
        </p:nvSpPr>
        <p:spPr>
          <a:xfrm>
            <a:off x="4343400" y="2717601"/>
            <a:ext cx="38100" cy="1854993"/>
          </a:xfrm>
          <a:prstGeom prst="rect">
            <a:avLst/>
          </a:prstGeom>
          <a:solidFill>
            <a:srgbClr val="F973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3"/>
          <p:cNvSpPr/>
          <p:nvPr/>
        </p:nvSpPr>
        <p:spPr>
          <a:xfrm>
            <a:off x="8077200" y="2717601"/>
            <a:ext cx="38100" cy="1854993"/>
          </a:xfrm>
          <a:prstGeom prst="rect">
            <a:avLst/>
          </a:prstGeom>
          <a:solidFill>
            <a:srgbClr val="22C5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23"/>
          <p:cNvSpPr txBox="1"/>
          <p:nvPr/>
        </p:nvSpPr>
        <p:spPr>
          <a:xfrm>
            <a:off x="609600" y="457200"/>
            <a:ext cx="115824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EA580C"/>
                </a:solidFill>
                <a:latin typeface="Inter"/>
                <a:ea typeface="Inter"/>
                <a:cs typeface="Inter"/>
                <a:sym typeface="Inter"/>
              </a:rPr>
              <a:t>DIAGNOSTICS &amp; CONTEXT MANAGEMENT</a:t>
            </a:r>
            <a:endParaRPr/>
          </a:p>
        </p:txBody>
      </p:sp>
      <p:sp>
        <p:nvSpPr>
          <p:cNvPr id="277" name="Google Shape;277;p23"/>
          <p:cNvSpPr txBox="1"/>
          <p:nvPr/>
        </p:nvSpPr>
        <p:spPr>
          <a:xfrm>
            <a:off x="609600" y="695325"/>
            <a:ext cx="11582400" cy="36567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0F172A"/>
                </a:solidFill>
                <a:latin typeface="Space Grotesk"/>
                <a:ea typeface="Space Grotesk"/>
                <a:cs typeface="Space Grotesk"/>
                <a:sym typeface="Space Grotesk"/>
              </a:rPr>
              <a:t>Post-Hoc RAG Distribution Shift</a:t>
            </a:r>
            <a:endParaRPr/>
          </a:p>
        </p:txBody>
      </p:sp>
      <p:sp>
        <p:nvSpPr>
          <p:cNvPr id="278" name="Google Shape;278;p23"/>
          <p:cNvSpPr txBox="1"/>
          <p:nvPr/>
        </p:nvSpPr>
        <p:spPr>
          <a:xfrm>
            <a:off x="914400" y="2984301"/>
            <a:ext cx="3850481"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991B1B"/>
                </a:solidFill>
                <a:latin typeface="Space Grotesk"/>
                <a:ea typeface="Space Grotesk"/>
                <a:cs typeface="Space Grotesk"/>
                <a:sym typeface="Space Grotesk"/>
              </a:rPr>
              <a:t>Observed Failure Mode</a:t>
            </a:r>
            <a:endParaRPr/>
          </a:p>
        </p:txBody>
      </p:sp>
      <p:sp>
        <p:nvSpPr>
          <p:cNvPr id="279" name="Google Shape;279;p23"/>
          <p:cNvSpPr txBox="1"/>
          <p:nvPr/>
        </p:nvSpPr>
        <p:spPr>
          <a:xfrm>
            <a:off x="914400" y="3346251"/>
            <a:ext cx="3028950" cy="719732"/>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7F1D1D"/>
                </a:solidFill>
                <a:latin typeface="Inter"/>
                <a:ea typeface="Inter"/>
                <a:cs typeface="Inter"/>
                <a:sym typeface="Inter"/>
              </a:rPr>
              <a:t>Adding RAG dropped JSON validity from 75% to 12.5% due to long legal context prefixes.</a:t>
            </a:r>
            <a:endParaRPr/>
          </a:p>
        </p:txBody>
      </p:sp>
      <p:sp>
        <p:nvSpPr>
          <p:cNvPr id="280" name="Google Shape;280;p23"/>
          <p:cNvSpPr txBox="1"/>
          <p:nvPr/>
        </p:nvSpPr>
        <p:spPr>
          <a:xfrm>
            <a:off x="4648200" y="2984301"/>
            <a:ext cx="3850481"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9A3412"/>
                </a:solidFill>
                <a:latin typeface="Space Grotesk"/>
                <a:ea typeface="Space Grotesk"/>
                <a:cs typeface="Space Grotesk"/>
                <a:sym typeface="Space Grotesk"/>
              </a:rPr>
              <a:t>Root Cause Mechanism</a:t>
            </a:r>
            <a:endParaRPr/>
          </a:p>
        </p:txBody>
      </p:sp>
      <p:sp>
        <p:nvSpPr>
          <p:cNvPr id="281" name="Google Shape;281;p23"/>
          <p:cNvSpPr txBox="1"/>
          <p:nvPr/>
        </p:nvSpPr>
        <p:spPr>
          <a:xfrm>
            <a:off x="4648200" y="3346251"/>
            <a:ext cx="3028950" cy="959643"/>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7C2D12"/>
                </a:solidFill>
                <a:latin typeface="Inter"/>
                <a:ea typeface="Inter"/>
                <a:cs typeface="Inter"/>
                <a:sym typeface="Inter"/>
              </a:rPr>
              <a:t>The 0.5B model was fine-tuned on pure timecard prompts, drifting when prepended with dense legal passages.</a:t>
            </a:r>
            <a:endParaRPr/>
          </a:p>
        </p:txBody>
      </p:sp>
      <p:sp>
        <p:nvSpPr>
          <p:cNvPr id="282" name="Google Shape;282;p23"/>
          <p:cNvSpPr txBox="1"/>
          <p:nvPr/>
        </p:nvSpPr>
        <p:spPr>
          <a:xfrm>
            <a:off x="8382000" y="2984301"/>
            <a:ext cx="381000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166534"/>
                </a:solidFill>
                <a:latin typeface="Space Grotesk"/>
                <a:ea typeface="Space Grotesk"/>
                <a:cs typeface="Space Grotesk"/>
                <a:sym typeface="Space Grotesk"/>
              </a:rPr>
              <a:t>Production Remedy</a:t>
            </a:r>
            <a:endParaRPr/>
          </a:p>
        </p:txBody>
      </p:sp>
      <p:sp>
        <p:nvSpPr>
          <p:cNvPr id="283" name="Google Shape;283;p23"/>
          <p:cNvSpPr txBox="1"/>
          <p:nvPr/>
        </p:nvSpPr>
        <p:spPr>
          <a:xfrm>
            <a:off x="8382000" y="3346251"/>
            <a:ext cx="3028950" cy="719732"/>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14532D"/>
                </a:solidFill>
                <a:latin typeface="Inter"/>
                <a:ea typeface="Inter"/>
                <a:cs typeface="Inter"/>
                <a:sym typeface="Inter"/>
              </a:rPr>
              <a:t>Decouple retrieval into a dedicated reasoning node and train on RAG-augmented prompt examples.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4"/>
          <p:cNvSpPr txBox="1"/>
          <p:nvPr/>
        </p:nvSpPr>
        <p:spPr>
          <a:xfrm>
            <a:off x="609600" y="457200"/>
            <a:ext cx="11582400" cy="16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u="none" strike="noStrike">
                <a:solidFill>
                  <a:srgbClr val="EA580C"/>
                </a:solidFill>
                <a:latin typeface="Inter"/>
                <a:ea typeface="Inter"/>
                <a:cs typeface="Inter"/>
                <a:sym typeface="Inter"/>
              </a:rPr>
              <a:t>CONTEXT MANAGEMENT &amp; SAFEGUARDS</a:t>
            </a:r>
            <a:endParaRPr b="1" i="0" sz="1050" u="none" strike="noStrike">
              <a:solidFill>
                <a:srgbClr val="EA580C"/>
              </a:solidFill>
              <a:latin typeface="Inter"/>
              <a:ea typeface="Inter"/>
              <a:cs typeface="Inter"/>
              <a:sym typeface="Inter"/>
            </a:endParaRPr>
          </a:p>
        </p:txBody>
      </p:sp>
      <p:sp>
        <p:nvSpPr>
          <p:cNvPr id="289" name="Google Shape;289;p24"/>
          <p:cNvSpPr txBox="1"/>
          <p:nvPr/>
        </p:nvSpPr>
        <p:spPr>
          <a:xfrm>
            <a:off x="609600" y="695325"/>
            <a:ext cx="11582400" cy="365700"/>
          </a:xfrm>
          <a:prstGeom prst="rect">
            <a:avLst/>
          </a:prstGeom>
          <a:noFill/>
          <a:ln>
            <a:noFill/>
          </a:ln>
        </p:spPr>
        <p:txBody>
          <a:bodyPr anchorCtr="0" anchor="t" bIns="0" lIns="0" spcFirstLastPara="1" rIns="0" wrap="square" tIns="0">
            <a:noAutofit/>
          </a:bodyPr>
          <a:lstStyle/>
          <a:p>
            <a:r>
              <a:rPr sz="2220" b="1" i="0">
                <a:solidFill>
                  <a:srgbClr val="0F172A"/>
                </a:solidFill>
                <a:latin typeface="Space Grotesk"/>
              </a:rPr>
              <a:t>Retrieval Guardrails, Context Filtering &amp; Token Budgets</a:t>
            </a:r>
          </a:p>
        </p:txBody>
      </p:sp>
      <p:sp>
        <p:nvSpPr>
          <p:cNvPr id="290" name="Google Shape;290;p24"/>
          <p:cNvSpPr/>
          <p:nvPr/>
        </p:nvSpPr>
        <p:spPr>
          <a:xfrm>
            <a:off x="609600" y="2717482"/>
            <a:ext cx="3505200" cy="1854600"/>
          </a:xfrm>
          <a:prstGeom prst="roundRect">
            <a:avLst>
              <a:gd fmla="val 6162" name="adj"/>
            </a:avLst>
          </a:prstGeom>
          <a:solidFill>
            <a:srgbClr val="FEF2F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1" name="Google Shape;291;p24"/>
          <p:cNvSpPr/>
          <p:nvPr/>
        </p:nvSpPr>
        <p:spPr>
          <a:xfrm>
            <a:off x="609600" y="2717482"/>
            <a:ext cx="38100" cy="1854600"/>
          </a:xfrm>
          <a:prstGeom prst="roundRect">
            <a:avLst>
              <a:gd fmla="val 0" name="adj"/>
            </a:avLst>
          </a:prstGeom>
          <a:solidFill>
            <a:srgbClr val="EF444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2" name="Google Shape;292;p24"/>
          <p:cNvSpPr txBox="1"/>
          <p:nvPr/>
        </p:nvSpPr>
        <p:spPr>
          <a:xfrm>
            <a:off x="914400" y="2984183"/>
            <a:ext cx="3029100" cy="24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500" u="none" strike="noStrike">
                <a:solidFill>
                  <a:srgbClr val="991B1B"/>
                </a:solidFill>
                <a:latin typeface="Space Grotesk"/>
                <a:ea typeface="Space Grotesk"/>
                <a:cs typeface="Space Grotesk"/>
                <a:sym typeface="Space Grotesk"/>
              </a:rPr>
              <a:t>Cosine Distance Guardrail</a:t>
            </a:r>
            <a:endParaRPr b="1" i="0" sz="1500" u="none" strike="noStrike">
              <a:solidFill>
                <a:srgbClr val="991B1B"/>
              </a:solidFill>
              <a:latin typeface="Space Grotesk"/>
              <a:ea typeface="Space Grotesk"/>
              <a:cs typeface="Space Grotesk"/>
              <a:sym typeface="Space Grotesk"/>
            </a:endParaRPr>
          </a:p>
        </p:txBody>
      </p:sp>
      <p:sp>
        <p:nvSpPr>
          <p:cNvPr id="293" name="Google Shape;293;p24"/>
          <p:cNvSpPr txBox="1"/>
          <p:nvPr/>
        </p:nvSpPr>
        <p:spPr>
          <a:xfrm>
            <a:off x="914400" y="3346133"/>
            <a:ext cx="3029100" cy="1047900"/>
          </a:xfrm>
          <a:prstGeom prst="rect">
            <a:avLst/>
          </a:prstGeom>
          <a:noFill/>
          <a:ln>
            <a:noFill/>
          </a:ln>
        </p:spPr>
        <p:txBody>
          <a:bodyPr anchorCtr="0" anchor="t" bIns="0" lIns="0" spcFirstLastPara="1" rIns="0" wrap="square" tIns="0">
            <a:noAutofit/>
          </a:bodyPr>
          <a:lstStyle/>
          <a:p>
            <a:r>
              <a:rPr sz="1148" b="0" i="0">
                <a:solidFill>
                  <a:srgbClr val="7F1D1D"/>
                </a:solidFill>
                <a:latin typeface="Inter"/>
              </a:rPr>
              <a:t>ChromaDB cosine distance threshold (τ = 0.65). If similarity distance &gt; 0.65 (confidence &lt; 35%), the system aborts inference and flags for human review to prevent unsupported answers.</a:t>
            </a:r>
          </a:p>
        </p:txBody>
      </p:sp>
      <p:sp>
        <p:nvSpPr>
          <p:cNvPr id="294" name="Google Shape;294;p24"/>
          <p:cNvSpPr/>
          <p:nvPr/>
        </p:nvSpPr>
        <p:spPr>
          <a:xfrm>
            <a:off x="4343400" y="2717482"/>
            <a:ext cx="3505200" cy="1854600"/>
          </a:xfrm>
          <a:prstGeom prst="roundRect">
            <a:avLst>
              <a:gd fmla="val 6162" name="adj"/>
            </a:avLst>
          </a:prstGeom>
          <a:solidFill>
            <a:srgbClr val="FFF7ED"/>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5" name="Google Shape;295;p24"/>
          <p:cNvSpPr/>
          <p:nvPr/>
        </p:nvSpPr>
        <p:spPr>
          <a:xfrm>
            <a:off x="4343400" y="2717482"/>
            <a:ext cx="38100" cy="1854600"/>
          </a:xfrm>
          <a:prstGeom prst="roundRect">
            <a:avLst>
              <a:gd fmla="val 0" name="adj"/>
            </a:avLst>
          </a:prstGeom>
          <a:solidFill>
            <a:srgbClr val="F9731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6" name="Google Shape;296;p24"/>
          <p:cNvSpPr txBox="1"/>
          <p:nvPr/>
        </p:nvSpPr>
        <p:spPr>
          <a:xfrm>
            <a:off x="4648200" y="2984183"/>
            <a:ext cx="3029100" cy="247800"/>
          </a:xfrm>
          <a:prstGeom prst="rect">
            <a:avLst/>
          </a:prstGeom>
          <a:noFill/>
          <a:ln>
            <a:noFill/>
          </a:ln>
        </p:spPr>
        <p:txBody>
          <a:bodyPr anchorCtr="0" anchor="t" bIns="0" lIns="0" spcFirstLastPara="1" rIns="0" wrap="square" tIns="0">
            <a:noAutofit/>
          </a:bodyPr>
          <a:lstStyle/>
          <a:p>
            <a:r>
              <a:rPr sz="1500" b="1" i="0">
                <a:solidFill>
                  <a:srgbClr val="9A3412"/>
                </a:solidFill>
                <a:latin typeface="Space Grotesk"/>
              </a:rPr>
              <a:t>Sliding Passage Overlap</a:t>
            </a:r>
          </a:p>
        </p:txBody>
      </p:sp>
      <p:sp>
        <p:nvSpPr>
          <p:cNvPr id="297" name="Google Shape;297;p24"/>
          <p:cNvSpPr txBox="1"/>
          <p:nvPr/>
        </p:nvSpPr>
        <p:spPr>
          <a:xfrm>
            <a:off x="4648200" y="3346133"/>
            <a:ext cx="3029100" cy="1047900"/>
          </a:xfrm>
          <a:prstGeom prst="rect">
            <a:avLst/>
          </a:prstGeom>
          <a:noFill/>
          <a:ln>
            <a:noFill/>
          </a:ln>
        </p:spPr>
        <p:txBody>
          <a:bodyPr anchorCtr="0" anchor="t" bIns="0" lIns="0" spcFirstLastPara="1" rIns="0" wrap="square" tIns="0">
            <a:noAutofit/>
          </a:bodyPr>
          <a:lstStyle/>
          <a:p>
            <a:r>
              <a:rPr sz="1148" b="0" i="0">
                <a:solidFill>
                  <a:srgbClr val="7C2D12"/>
                </a:solidFill>
                <a:latin typeface="Inter"/>
              </a:rPr>
              <a:t>850-character chunks with 150-character (50-token) overlap ensure legal clauses and exception sub-clauses are never severed midway.</a:t>
            </a:r>
          </a:p>
        </p:txBody>
      </p:sp>
      <p:sp>
        <p:nvSpPr>
          <p:cNvPr id="298" name="Google Shape;298;p24"/>
          <p:cNvSpPr/>
          <p:nvPr/>
        </p:nvSpPr>
        <p:spPr>
          <a:xfrm>
            <a:off x="8077200" y="2717482"/>
            <a:ext cx="3505200" cy="1854600"/>
          </a:xfrm>
          <a:prstGeom prst="roundRect">
            <a:avLst>
              <a:gd fmla="val 6162" name="adj"/>
            </a:avLst>
          </a:prstGeom>
          <a:solidFill>
            <a:srgbClr val="F0FDF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9" name="Google Shape;299;p24"/>
          <p:cNvSpPr/>
          <p:nvPr/>
        </p:nvSpPr>
        <p:spPr>
          <a:xfrm>
            <a:off x="8077200" y="2717482"/>
            <a:ext cx="38100" cy="1854600"/>
          </a:xfrm>
          <a:prstGeom prst="roundRect">
            <a:avLst>
              <a:gd fmla="val 0" name="adj"/>
            </a:avLst>
          </a:prstGeom>
          <a:solidFill>
            <a:srgbClr val="22C55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0" name="Google Shape;300;p24"/>
          <p:cNvSpPr txBox="1"/>
          <p:nvPr/>
        </p:nvSpPr>
        <p:spPr>
          <a:xfrm>
            <a:off x="8382000" y="2984183"/>
            <a:ext cx="3029100" cy="247800"/>
          </a:xfrm>
          <a:prstGeom prst="rect">
            <a:avLst/>
          </a:prstGeom>
          <a:noFill/>
          <a:ln>
            <a:noFill/>
          </a:ln>
        </p:spPr>
        <p:txBody>
          <a:bodyPr anchorCtr="0" anchor="t" bIns="0" lIns="0" spcFirstLastPara="1" rIns="0" wrap="square" tIns="0">
            <a:noAutofit/>
          </a:bodyPr>
          <a:lstStyle/>
          <a:p>
            <a:r>
              <a:rPr sz="1500" b="1" i="0">
                <a:solidFill>
                  <a:srgbClr val="166534"/>
                </a:solidFill>
                <a:latin typeface="Space Grotesk"/>
              </a:rPr>
              <a:t>Token Budgeting &amp; Deduplication</a:t>
            </a:r>
          </a:p>
        </p:txBody>
      </p:sp>
      <p:sp>
        <p:nvSpPr>
          <p:cNvPr id="301" name="Google Shape;301;p24"/>
          <p:cNvSpPr txBox="1"/>
          <p:nvPr/>
        </p:nvSpPr>
        <p:spPr>
          <a:xfrm>
            <a:off x="8382000" y="3346133"/>
            <a:ext cx="3029100" cy="1047900"/>
          </a:xfrm>
          <a:prstGeom prst="rect">
            <a:avLst/>
          </a:prstGeom>
          <a:noFill/>
          <a:ln>
            <a:noFill/>
          </a:ln>
        </p:spPr>
        <p:txBody>
          <a:bodyPr anchorCtr="0" anchor="t" bIns="0" lIns="0" spcFirstLastPara="1" rIns="0" wrap="square" tIns="0">
            <a:noAutofit/>
          </a:bodyPr>
          <a:lstStyle/>
          <a:p>
            <a:r>
              <a:rPr sz="1148" b="0" i="0">
                <a:solidFill>
                  <a:srgbClr val="14532D"/>
                </a:solidFill>
                <a:latin typeface="Inter"/>
              </a:rPr>
              <a:t>Deduplicates redundant article citations; restricts context to top-k=2 chunks and caps generation at max_new_tokens=256, preserving prompt latency and cache efficiency.</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25"/>
          <p:cNvSpPr/>
          <p:nvPr/>
        </p:nvSpPr>
        <p:spPr>
          <a:xfrm>
            <a:off x="609600" y="2249685"/>
            <a:ext cx="4918323" cy="2790825"/>
          </a:xfrm>
          <a:prstGeom prst="roundRect">
            <a:avLst>
              <a:gd fmla="val 4095"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25"/>
          <p:cNvSpPr/>
          <p:nvPr/>
        </p:nvSpPr>
        <p:spPr>
          <a:xfrm>
            <a:off x="5794623" y="2249685"/>
            <a:ext cx="5787776" cy="2790825"/>
          </a:xfrm>
          <a:prstGeom prst="roundRect">
            <a:avLst>
              <a:gd fmla="val 4095" name="adj"/>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25"/>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59669"/>
                </a:solidFill>
                <a:latin typeface="Inter"/>
                <a:ea typeface="Inter"/>
                <a:cs typeface="Inter"/>
                <a:sym typeface="Inter"/>
              </a:rPr>
              <a:t>SYSTEM DEMONSTRATION · SUCCESS CASE</a:t>
            </a:r>
            <a:endParaRPr/>
          </a:p>
        </p:txBody>
      </p:sp>
      <p:sp>
        <p:nvSpPr>
          <p:cNvPr id="309" name="Google Shape;309;p25"/>
          <p:cNvSpPr txBox="1"/>
          <p:nvPr/>
        </p:nvSpPr>
        <p:spPr>
          <a:xfrm>
            <a:off x="609600" y="695325"/>
            <a:ext cx="11582400" cy="365670"/>
          </a:xfrm>
          <a:prstGeom prst="rect">
            <a:avLst/>
          </a:prstGeom>
          <a:noFill/>
          <a:ln>
            <a:noFill/>
          </a:ln>
        </p:spPr>
        <p:txBody>
          <a:bodyPr anchorCtr="0" anchor="t" bIns="0" lIns="0" spcFirstLastPara="1" rIns="0" wrap="square" tIns="0">
            <a:spAutoFit/>
          </a:bodyPr>
          <a:lstStyle/>
          <a:p>
            <a:r>
              <a:rPr sz="2400" b="1" i="0">
                <a:solidFill>
                  <a:srgbClr val="0F172A"/>
                </a:solidFill>
                <a:latin typeface="Space Grotesk"/>
              </a:rPr>
              <a:t>UBCP Principal Actor Shift Audit (Live Demonstration)</a:t>
            </a:r>
          </a:p>
        </p:txBody>
      </p:sp>
      <p:sp>
        <p:nvSpPr>
          <p:cNvPr id="310" name="Google Shape;310;p25"/>
          <p:cNvSpPr txBox="1"/>
          <p:nvPr/>
        </p:nvSpPr>
        <p:spPr>
          <a:xfrm>
            <a:off x="847725" y="2487810"/>
            <a:ext cx="583022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Space Grotesk"/>
                <a:ea typeface="Space Grotesk"/>
                <a:cs typeface="Space Grotesk"/>
                <a:sym typeface="Space Grotesk"/>
              </a:rPr>
              <a:t>Input Shift Log</a:t>
            </a:r>
            <a:endParaRPr/>
          </a:p>
        </p:txBody>
      </p:sp>
      <p:sp>
        <p:nvSpPr>
          <p:cNvPr id="311" name="Google Shape;311;p25"/>
          <p:cNvSpPr txBox="1"/>
          <p:nvPr/>
        </p:nvSpPr>
        <p:spPr>
          <a:xfrm>
            <a:off x="847725" y="2821185"/>
            <a:ext cx="4537323" cy="114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25" u="none" cap="none" strike="noStrike">
                <a:solidFill>
                  <a:srgbClr val="334155"/>
                </a:solidFill>
                <a:latin typeface="JetBrains Mono"/>
                <a:ea typeface="JetBrains Mono"/>
                <a:cs typeface="JetBrains Mono"/>
                <a:sym typeface="JetBrains Mono"/>
              </a:rPr>
              <a:t>Role:</a:t>
            </a:r>
            <a:r>
              <a:rPr b="0" i="0" lang="en-US" sz="1125" u="none" cap="none" strike="noStrike">
                <a:solidFill>
                  <a:srgbClr val="334155"/>
                </a:solidFill>
                <a:latin typeface="JetBrains Mono"/>
                <a:ea typeface="JetBrains Mono"/>
                <a:cs typeface="JetBrains Mono"/>
                <a:sym typeface="JetBrains Mono"/>
              </a:rPr>
              <a:t> Principal Actor (UBCP/ACTRA)</a:t>
            </a:r>
            <a:br>
              <a:rPr b="0" i="0" lang="en-US" sz="1800" u="none" cap="none" strike="noStrike">
                <a:solidFill>
                  <a:schemeClr val="dk1"/>
                </a:solidFill>
                <a:latin typeface="Calibri"/>
                <a:ea typeface="Calibri"/>
                <a:cs typeface="Calibri"/>
                <a:sym typeface="Calibri"/>
              </a:rPr>
            </a:br>
            <a:r>
              <a:rPr b="1" i="0" lang="en-US" sz="1125" u="none" cap="none" strike="noStrike">
                <a:solidFill>
                  <a:srgbClr val="334155"/>
                </a:solidFill>
                <a:latin typeface="JetBrains Mono"/>
                <a:ea typeface="JetBrains Mono"/>
                <a:cs typeface="JetBrains Mono"/>
                <a:sym typeface="JetBrains Mono"/>
              </a:rPr>
              <a:t>Scale Wage:</a:t>
            </a:r>
            <a:r>
              <a:rPr b="0" i="0" lang="en-US" sz="1125" u="none" cap="none" strike="noStrike">
                <a:solidFill>
                  <a:srgbClr val="334155"/>
                </a:solidFill>
                <a:latin typeface="JetBrains Mono"/>
                <a:ea typeface="JetBrains Mono"/>
                <a:cs typeface="JetBrains Mono"/>
                <a:sym typeface="JetBrains Mono"/>
              </a:rPr>
              <a:t> $114.71/hr</a:t>
            </a:r>
            <a:br>
              <a:rPr b="0" i="0" lang="en-US" sz="1800" u="none" cap="none" strike="noStrike">
                <a:solidFill>
                  <a:schemeClr val="dk1"/>
                </a:solidFill>
                <a:latin typeface="Calibri"/>
                <a:ea typeface="Calibri"/>
                <a:cs typeface="Calibri"/>
                <a:sym typeface="Calibri"/>
              </a:rPr>
            </a:br>
            <a:r>
              <a:rPr b="1" i="0" lang="en-US" sz="1125" u="none" cap="none" strike="noStrike">
                <a:solidFill>
                  <a:srgbClr val="334155"/>
                </a:solidFill>
                <a:latin typeface="JetBrains Mono"/>
                <a:ea typeface="JetBrains Mono"/>
                <a:cs typeface="JetBrains Mono"/>
                <a:sym typeface="JetBrains Mono"/>
              </a:rPr>
              <a:t>Shift Duration:</a:t>
            </a:r>
            <a:r>
              <a:rPr b="0" i="0" lang="en-US" sz="1125" u="none" cap="none" strike="noStrike">
                <a:solidFill>
                  <a:srgbClr val="334155"/>
                </a:solidFill>
                <a:latin typeface="JetBrains Mono"/>
                <a:ea typeface="JetBrains Mono"/>
                <a:cs typeface="JetBrains Mono"/>
                <a:sym typeface="JetBrains Mono"/>
              </a:rPr>
              <a:t> 10.3h</a:t>
            </a:r>
            <a:br>
              <a:rPr b="0" i="0" lang="en-US" sz="1800" u="none" cap="none" strike="noStrike">
                <a:solidFill>
                  <a:schemeClr val="dk1"/>
                </a:solidFill>
                <a:latin typeface="Calibri"/>
                <a:ea typeface="Calibri"/>
                <a:cs typeface="Calibri"/>
                <a:sym typeface="Calibri"/>
              </a:rPr>
            </a:br>
            <a:r>
              <a:rPr b="1" i="0" lang="en-US" sz="1125" u="none" cap="none" strike="noStrike">
                <a:solidFill>
                  <a:srgbClr val="334155"/>
                </a:solidFill>
                <a:latin typeface="JetBrains Mono"/>
                <a:ea typeface="JetBrains Mono"/>
                <a:cs typeface="JetBrains Mono"/>
                <a:sym typeface="JetBrains Mono"/>
              </a:rPr>
              <a:t>First Meal Given:</a:t>
            </a:r>
            <a:r>
              <a:rPr b="0" i="0" lang="en-US" sz="1125" u="none" cap="none" strike="noStrike">
                <a:solidFill>
                  <a:srgbClr val="334155"/>
                </a:solidFill>
                <a:latin typeface="JetBrains Mono"/>
                <a:ea typeface="JetBrains Mono"/>
                <a:cs typeface="JetBrains Mono"/>
                <a:sym typeface="JetBrains Mono"/>
              </a:rPr>
              <a:t> 8.3h after call</a:t>
            </a:r>
            <a:br>
              <a:rPr b="0" i="0" lang="en-US" sz="1800" u="none" cap="none" strike="noStrike">
                <a:solidFill>
                  <a:schemeClr val="dk1"/>
                </a:solidFill>
                <a:latin typeface="Calibri"/>
                <a:ea typeface="Calibri"/>
                <a:cs typeface="Calibri"/>
                <a:sym typeface="Calibri"/>
              </a:rPr>
            </a:br>
            <a:r>
              <a:rPr b="1" i="0" lang="en-US" sz="1125" u="none" cap="none" strike="noStrike">
                <a:solidFill>
                  <a:srgbClr val="334155"/>
                </a:solidFill>
                <a:latin typeface="JetBrains Mono"/>
                <a:ea typeface="JetBrains Mono"/>
                <a:cs typeface="JetBrains Mono"/>
                <a:sym typeface="JetBrains Mono"/>
              </a:rPr>
              <a:t>Rest Provided:</a:t>
            </a:r>
            <a:r>
              <a:rPr b="0" i="0" lang="en-US" sz="1125" u="none" cap="none" strike="noStrike">
                <a:solidFill>
                  <a:srgbClr val="334155"/>
                </a:solidFill>
                <a:latin typeface="JetBrains Mono"/>
                <a:ea typeface="JetBrains Mono"/>
                <a:cs typeface="JetBrains Mono"/>
                <a:sym typeface="JetBrains Mono"/>
              </a:rPr>
              <a:t> 8.4h before next call</a:t>
            </a:r>
            <a:endParaRPr/>
          </a:p>
        </p:txBody>
      </p:sp>
      <p:sp>
        <p:nvSpPr>
          <p:cNvPr id="312" name="Google Shape;312;p25"/>
          <p:cNvSpPr txBox="1"/>
          <p:nvPr/>
        </p:nvSpPr>
        <p:spPr>
          <a:xfrm>
            <a:off x="6023223" y="2478285"/>
            <a:ext cx="6168776"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38BDF8"/>
                </a:solidFill>
                <a:latin typeface="Space Grotesk"/>
                <a:ea typeface="Space Grotesk"/>
                <a:cs typeface="Space Grotesk"/>
                <a:sym typeface="Space Grotesk"/>
              </a:rPr>
              <a:t>Generated Audit Output</a:t>
            </a:r>
            <a:endParaRPr/>
          </a:p>
        </p:txBody>
      </p:sp>
      <p:sp>
        <p:nvSpPr>
          <p:cNvPr id="313" name="Google Shape;313;p25"/>
          <p:cNvSpPr txBox="1"/>
          <p:nvPr/>
        </p:nvSpPr>
        <p:spPr>
          <a:xfrm>
            <a:off x="6023223" y="2811660"/>
            <a:ext cx="5425826" cy="2000250"/>
          </a:xfrm>
          <a:prstGeom prst="rect">
            <a:avLst/>
          </a:prstGeom>
          <a:noFill/>
          <a:ln>
            <a:noFill/>
          </a:ln>
        </p:spPr>
        <p:txBody>
          <a:bodyPr anchorCtr="0" anchor="t" bIns="0" lIns="0" spcFirstLastPara="1" rIns="0" wrap="square" tIns="0">
            <a:spAutoFit/>
          </a:bodyPr>
          <a:lstStyle/>
          <a:p>
            <a:pPr indent="0" lvl="0" marL="0" marR="0" rtl="0" algn="l">
              <a:lnSpc>
                <a:spcPct val="87500"/>
              </a:lnSpc>
              <a:spcBef>
                <a:spcPts val="0"/>
              </a:spcBef>
              <a:spcAft>
                <a:spcPts val="0"/>
              </a:spcAft>
              <a:buNone/>
            </a:pPr>
            <a:r>
              <a:rPr b="0" i="0" lang="en-US" sz="1050" u="none" cap="none" strike="noStrike">
                <a:solidFill>
                  <a:srgbClr val="CBD5E1"/>
                </a:solidFill>
                <a:latin typeface="JetBrains Mono"/>
                <a:ea typeface="JetBrains Mono"/>
                <a:cs typeface="JetBrains Mono"/>
                <a:sym typeface="JetBrains Mono"/>
              </a:rPr>
              <a:t>{</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CBD5E1"/>
                </a:solidFill>
                <a:latin typeface="JetBrains Mono"/>
                <a:ea typeface="JetBrains Mono"/>
                <a:cs typeface="JetBrains Mono"/>
                <a:sym typeface="JetBrains Mono"/>
              </a:rPr>
              <a:t>   "agreement": "UBCP",</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CBD5E1"/>
                </a:solidFill>
                <a:latin typeface="JetBrains Mono"/>
                <a:ea typeface="JetBrains Mono"/>
                <a:cs typeface="JetBrains Mono"/>
                <a:sym typeface="JetBrains Mono"/>
              </a:rPr>
              <a:t>   "is_compliant": false,</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CBD5E1"/>
                </a:solidFill>
                <a:latin typeface="JetBrains Mono"/>
                <a:ea typeface="JetBrains Mono"/>
                <a:cs typeface="JetBrains Mono"/>
                <a:sym typeface="JetBrains Mono"/>
              </a:rPr>
              <a:t>   "violations": [</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CBD5E1"/>
                </a:solidFill>
                <a:latin typeface="JetBrains Mono"/>
                <a:ea typeface="JetBrains Mono"/>
                <a:cs typeface="JetBrains Mono"/>
                <a:sym typeface="JetBrains Mono"/>
              </a:rPr>
              <a:t>     {"type": "Turnaround Encroachment", "clause": "Art. A1301", "hours": 2.6},</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CBD5E1"/>
                </a:solidFill>
                <a:latin typeface="JetBrains Mono"/>
                <a:ea typeface="JetBrains Mono"/>
                <a:cs typeface="JetBrains Mono"/>
                <a:sym typeface="JetBrains Mono"/>
              </a:rPr>
              <a:t>     {"type": "Delayed Meal Penalty", "clause": "Art. A1401", "hours": 2.3}</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CBD5E1"/>
                </a:solidFill>
                <a:latin typeface="JetBrains Mono"/>
                <a:ea typeface="JetBrains Mono"/>
                <a:cs typeface="JetBrains Mono"/>
                <a:sym typeface="JetBrains Mono"/>
              </a:rPr>
              <a:t>   ]</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CBD5E1"/>
                </a:solidFill>
                <a:latin typeface="JetBrains Mono"/>
                <a:ea typeface="JetBrains Mono"/>
                <a:cs typeface="JetBrains Mono"/>
                <a:sym typeface="JetBrains Mono"/>
              </a:rPr>
              <a:t> }</a:t>
            </a:r>
            <a:endParaRPr/>
          </a:p>
        </p:txBody>
      </p:sp>
      <p:sp>
        <p:nvSpPr>
          <p:cNvPr id="314" name="Google Shape;314;p25"/>
          <p:cNvSpPr/>
          <p:nvPr/>
        </p:nvSpPr>
        <p:spPr>
          <a:xfrm>
            <a:off x="8915400" y="514350"/>
            <a:ext cx="2667000" cy="324000"/>
          </a:xfrm>
          <a:prstGeom prst="roundRect">
            <a:avLst>
              <a:gd fmla="val 1764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5"/>
          <p:cNvSpPr txBox="1"/>
          <p:nvPr/>
        </p:nvSpPr>
        <p:spPr>
          <a:xfrm>
            <a:off x="8915400" y="514350"/>
            <a:ext cx="26670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lang="en-US" sz="950">
                <a:solidFill>
                  <a:srgbClr val="475569"/>
                </a:solidFill>
                <a:latin typeface="Inter Medium"/>
                <a:ea typeface="Inter Medium"/>
                <a:cs typeface="Inter Medium"/>
                <a:sym typeface="Inter Medium"/>
              </a:rPr>
              <a:t>demo_cli</a:t>
            </a:r>
            <a:r>
              <a:rPr lang="en-US" sz="950">
                <a:solidFill>
                  <a:srgbClr val="475569"/>
                </a:solidFill>
                <a:latin typeface="Inter Medium"/>
                <a:ea typeface="Inter Medium"/>
                <a:cs typeface="Inter Medium"/>
                <a:sym typeface="Inter Medium"/>
              </a:rPr>
              <a:t>.py</a:t>
            </a:r>
            <a:endParaRPr b="0" i="0" sz="950">
              <a:solidFill>
                <a:srgbClr val="475569"/>
              </a:solidFill>
              <a:latin typeface="Inter Medium"/>
              <a:ea typeface="Inter Medium"/>
              <a:cs typeface="Inter Medium"/>
              <a:sym typeface="Inter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p26" title="Screenshot 2026-10-26 at 4.06.04 PM.png"/>
          <p:cNvPicPr preferRelativeResize="0"/>
          <p:nvPr/>
        </p:nvPicPr>
        <p:blipFill rotWithShape="1">
          <a:blip r:embed="rId3">
            <a:alphaModFix/>
          </a:blip>
          <a:srcRect b="0" l="0" r="0" t="0"/>
          <a:stretch/>
        </p:blipFill>
        <p:spPr>
          <a:xfrm>
            <a:off x="609600" y="4400550"/>
            <a:ext cx="4918800" cy="2265900"/>
          </a:xfrm>
          <a:prstGeom prst="rect">
            <a:avLst/>
          </a:prstGeom>
          <a:noFill/>
          <a:ln>
            <a:noFill/>
          </a:ln>
        </p:spPr>
      </p:pic>
      <p:sp>
        <p:nvSpPr>
          <p:cNvPr id="321" name="Google Shape;321;p26"/>
          <p:cNvSpPr txBox="1"/>
          <p:nvPr/>
        </p:nvSpPr>
        <p:spPr>
          <a:xfrm>
            <a:off x="609600" y="266700"/>
            <a:ext cx="11582400" cy="381000"/>
          </a:xfrm>
          <a:prstGeom prst="rect">
            <a:avLst/>
          </a:prstGeom>
          <a:noFill/>
          <a:ln>
            <a:noFill/>
          </a:ln>
        </p:spPr>
        <p:txBody>
          <a:bodyPr anchorCtr="0" anchor="ctr" bIns="121900" lIns="121900" spcFirstLastPara="1" rIns="121900" wrap="square" tIns="121900">
            <a:noAutofit/>
          </a:bodyPr>
          <a:lstStyle/>
          <a:p>
            <a:r>
              <a:rPr sz="893" b="1">
                <a:solidFill>
                  <a:srgbClr val="D97706"/>
                </a:solidFill>
                <a:latin typeface="Inter"/>
              </a:rPr>
              <a:t>SYSTEM DEMONSTRATION · FAILURE &amp; UNCERTAINTY CASE</a:t>
            </a:r>
          </a:p>
        </p:txBody>
      </p:sp>
      <p:sp>
        <p:nvSpPr>
          <p:cNvPr id="322" name="Google Shape;322;p26"/>
          <p:cNvSpPr txBox="1"/>
          <p:nvPr/>
        </p:nvSpPr>
        <p:spPr>
          <a:xfrm>
            <a:off x="609600" y="647700"/>
            <a:ext cx="11582400" cy="619200"/>
          </a:xfrm>
          <a:prstGeom prst="rect">
            <a:avLst/>
          </a:prstGeom>
          <a:noFill/>
          <a:ln>
            <a:noFill/>
          </a:ln>
        </p:spPr>
        <p:txBody>
          <a:bodyPr anchorCtr="0" anchor="ctr" bIns="121900" lIns="121900" spcFirstLastPara="1" rIns="121900" wrap="square" tIns="121900">
            <a:noAutofit/>
          </a:bodyPr>
          <a:lstStyle/>
          <a:p>
            <a:r>
              <a:rPr sz="2400" b="1">
                <a:solidFill>
                  <a:srgbClr val="0F172A"/>
                </a:solidFill>
                <a:latin typeface="Space Grotesk"/>
              </a:rPr>
              <a:t>Transition Clause Ambiguity (Ratification Date Cutoff)</a:t>
            </a:r>
          </a:p>
        </p:txBody>
      </p:sp>
      <p:sp>
        <p:nvSpPr>
          <p:cNvPr id="323" name="Google Shape;323;p26"/>
          <p:cNvSpPr/>
          <p:nvPr/>
        </p:nvSpPr>
        <p:spPr>
          <a:xfrm>
            <a:off x="609600" y="1333500"/>
            <a:ext cx="4918800" cy="2895600"/>
          </a:xfrm>
          <a:prstGeom prst="roundRect">
            <a:avLst>
              <a:gd fmla="val 3947" name="adj"/>
            </a:avLst>
          </a:prstGeom>
          <a:solidFill>
            <a:srgbClr val="F8FAFC"/>
          </a:solidFill>
          <a:ln cap="flat" cmpd="sng" w="9525">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4" name="Google Shape;324;p26"/>
          <p:cNvSpPr/>
          <p:nvPr/>
        </p:nvSpPr>
        <p:spPr>
          <a:xfrm>
            <a:off x="5795010" y="1333500"/>
            <a:ext cx="5787300" cy="5334000"/>
          </a:xfrm>
          <a:prstGeom prst="roundRect">
            <a:avLst>
              <a:gd fmla="val 2142" name="adj"/>
            </a:avLst>
          </a:prstGeom>
          <a:solidFill>
            <a:srgbClr val="0F172A"/>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5" name="Google Shape;325;p26"/>
          <p:cNvSpPr txBox="1"/>
          <p:nvPr/>
        </p:nvSpPr>
        <p:spPr>
          <a:xfrm>
            <a:off x="847725" y="1485900"/>
            <a:ext cx="4476900" cy="4287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b="1" lang="en-US" sz="1148">
                <a:solidFill>
                  <a:srgbClr val="0F172A"/>
                </a:solidFill>
                <a:latin typeface="Space Grotesk"/>
                <a:ea typeface="Space Grotesk"/>
                <a:cs typeface="Space Grotesk"/>
                <a:sym typeface="Space Grotesk"/>
              </a:rPr>
              <a:t>Input Shift Log</a:t>
            </a:r>
            <a:endParaRPr b="1" sz="1148">
              <a:solidFill>
                <a:srgbClr val="0F172A"/>
              </a:solidFill>
              <a:latin typeface="Space Grotesk"/>
              <a:ea typeface="Space Grotesk"/>
              <a:cs typeface="Space Grotesk"/>
              <a:sym typeface="Space Grotesk"/>
            </a:endParaRPr>
          </a:p>
        </p:txBody>
      </p:sp>
      <p:sp>
        <p:nvSpPr>
          <p:cNvPr id="326" name="Google Shape;326;p26"/>
          <p:cNvSpPr txBox="1"/>
          <p:nvPr/>
        </p:nvSpPr>
        <p:spPr>
          <a:xfrm>
            <a:off x="847725" y="1905000"/>
            <a:ext cx="4476900" cy="2152800"/>
          </a:xfrm>
          <a:prstGeom prst="rect">
            <a:avLst/>
          </a:prstGeom>
          <a:noFill/>
          <a:ln>
            <a:noFill/>
          </a:ln>
        </p:spPr>
        <p:txBody>
          <a:bodyPr anchorCtr="0" anchor="ctr" bIns="121900" lIns="121900" spcFirstLastPara="1" rIns="121900" wrap="square" tIns="121900">
            <a:noAutofit/>
          </a:bodyPr>
          <a:lstStyle/>
          <a:p>
            <a:pPr indent="0" lvl="0" marL="0" rtl="0" algn="l">
              <a:lnSpc>
                <a:spcPct val="120000"/>
              </a:lnSpc>
              <a:spcBef>
                <a:spcPts val="0"/>
              </a:spcBef>
              <a:spcAft>
                <a:spcPts val="0"/>
              </a:spcAft>
              <a:buNone/>
            </a:pPr>
            <a:r>
              <a:rPr b="1" lang="en-US" sz="1120">
                <a:solidFill>
                  <a:srgbClr val="334155"/>
                </a:solidFill>
                <a:latin typeface="JetBrains Mono"/>
                <a:ea typeface="JetBrains Mono"/>
                <a:cs typeface="JetBrains Mono"/>
                <a:sym typeface="JetBrains Mono"/>
              </a:rPr>
              <a:t>Role:</a:t>
            </a:r>
            <a:r>
              <a:rPr b="0" lang="en-US" sz="1120">
                <a:solidFill>
                  <a:srgbClr val="334155"/>
                </a:solidFill>
                <a:latin typeface="JetBrains Mono"/>
                <a:ea typeface="JetBrains Mono"/>
                <a:cs typeface="JetBrains Mono"/>
                <a:sym typeface="JetBrains Mono"/>
              </a:rPr>
              <a:t> Principal Actor (UBCP/ACTRA)</a:t>
            </a:r>
            <a:endParaRPr b="1" sz="1120">
              <a:solidFill>
                <a:srgbClr val="334155"/>
              </a:solidFill>
              <a:latin typeface="JetBrains Mono"/>
              <a:ea typeface="JetBrains Mono"/>
              <a:cs typeface="JetBrains Mono"/>
              <a:sym typeface="JetBrains Mono"/>
            </a:endParaRPr>
          </a:p>
          <a:p>
            <a:pPr indent="0" lvl="0" marL="0" rtl="0" algn="l">
              <a:lnSpc>
                <a:spcPct val="120000"/>
              </a:lnSpc>
              <a:spcBef>
                <a:spcPts val="1000"/>
              </a:spcBef>
              <a:spcAft>
                <a:spcPts val="0"/>
              </a:spcAft>
              <a:buNone/>
            </a:pPr>
            <a:r>
              <a:rPr b="1" lang="en-US" sz="1120">
                <a:solidFill>
                  <a:srgbClr val="334155"/>
                </a:solidFill>
                <a:latin typeface="JetBrains Mono"/>
                <a:ea typeface="JetBrains Mono"/>
                <a:cs typeface="JetBrains Mono"/>
                <a:sym typeface="JetBrains Mono"/>
              </a:rPr>
              <a:t>Scale Wage:</a:t>
            </a:r>
            <a:r>
              <a:rPr b="0" lang="en-US" sz="1120">
                <a:solidFill>
                  <a:srgbClr val="334155"/>
                </a:solidFill>
                <a:latin typeface="JetBrains Mono"/>
                <a:ea typeface="JetBrains Mono"/>
                <a:cs typeface="JetBrains Mono"/>
                <a:sym typeface="JetBrains Mono"/>
              </a:rPr>
              <a:t> $115/hr</a:t>
            </a:r>
            <a:endParaRPr b="1" sz="1120">
              <a:solidFill>
                <a:srgbClr val="334155"/>
              </a:solidFill>
              <a:latin typeface="JetBrains Mono"/>
              <a:ea typeface="JetBrains Mono"/>
              <a:cs typeface="JetBrains Mono"/>
              <a:sym typeface="JetBrains Mono"/>
            </a:endParaRPr>
          </a:p>
          <a:p>
            <a:pPr indent="0" lvl="0" marL="0" rtl="0" algn="l">
              <a:lnSpc>
                <a:spcPct val="120000"/>
              </a:lnSpc>
              <a:spcBef>
                <a:spcPts val="1000"/>
              </a:spcBef>
              <a:spcAft>
                <a:spcPts val="0"/>
              </a:spcAft>
              <a:buNone/>
            </a:pPr>
            <a:r>
              <a:rPr b="1" lang="en-US" sz="1120">
                <a:solidFill>
                  <a:srgbClr val="334155"/>
                </a:solidFill>
                <a:latin typeface="JetBrains Mono"/>
                <a:ea typeface="JetBrains Mono"/>
                <a:cs typeface="JetBrains Mono"/>
                <a:sym typeface="JetBrains Mono"/>
              </a:rPr>
              <a:t>Shift Duration:</a:t>
            </a:r>
            <a:r>
              <a:rPr b="0" lang="en-US" sz="1120">
                <a:solidFill>
                  <a:srgbClr val="334155"/>
                </a:solidFill>
                <a:latin typeface="JetBrains Mono"/>
                <a:ea typeface="JetBrains Mono"/>
                <a:cs typeface="JetBrains Mono"/>
                <a:sym typeface="JetBrains Mono"/>
              </a:rPr>
              <a:t> 10.3h</a:t>
            </a:r>
            <a:endParaRPr b="1" sz="1120">
              <a:solidFill>
                <a:srgbClr val="334155"/>
              </a:solidFill>
              <a:latin typeface="JetBrains Mono"/>
              <a:ea typeface="JetBrains Mono"/>
              <a:cs typeface="JetBrains Mono"/>
              <a:sym typeface="JetBrains Mono"/>
            </a:endParaRPr>
          </a:p>
          <a:p>
            <a:pPr indent="0" lvl="0" marL="0" rtl="0" algn="l">
              <a:lnSpc>
                <a:spcPct val="120000"/>
              </a:lnSpc>
              <a:spcBef>
                <a:spcPts val="1000"/>
              </a:spcBef>
              <a:spcAft>
                <a:spcPts val="0"/>
              </a:spcAft>
              <a:buNone/>
            </a:pPr>
            <a:r>
              <a:rPr b="1" lang="en-US" sz="1120">
                <a:solidFill>
                  <a:srgbClr val="334155"/>
                </a:solidFill>
                <a:latin typeface="JetBrains Mono"/>
                <a:ea typeface="JetBrains Mono"/>
                <a:cs typeface="JetBrains Mono"/>
                <a:sym typeface="JetBrains Mono"/>
              </a:rPr>
              <a:t>First Meal Given:</a:t>
            </a:r>
            <a:r>
              <a:rPr b="0" lang="en-US" sz="1120">
                <a:solidFill>
                  <a:srgbClr val="334155"/>
                </a:solidFill>
                <a:latin typeface="JetBrains Mono"/>
                <a:ea typeface="JetBrains Mono"/>
                <a:cs typeface="JetBrains Mono"/>
                <a:sym typeface="JetBrains Mono"/>
              </a:rPr>
              <a:t> 5.5h after call</a:t>
            </a:r>
            <a:endParaRPr b="1" sz="1120">
              <a:solidFill>
                <a:srgbClr val="334155"/>
              </a:solidFill>
              <a:latin typeface="JetBrains Mono"/>
              <a:ea typeface="JetBrains Mono"/>
              <a:cs typeface="JetBrains Mono"/>
              <a:sym typeface="JetBrains Mono"/>
            </a:endParaRPr>
          </a:p>
          <a:p>
            <a:pPr indent="0" lvl="0" marL="0" rtl="0" algn="l">
              <a:lnSpc>
                <a:spcPct val="120000"/>
              </a:lnSpc>
              <a:spcBef>
                <a:spcPts val="1000"/>
              </a:spcBef>
              <a:spcAft>
                <a:spcPts val="1000"/>
              </a:spcAft>
              <a:buNone/>
            </a:pPr>
            <a:r>
              <a:rPr b="1" lang="en-US" sz="1120">
                <a:solidFill>
                  <a:srgbClr val="334155"/>
                </a:solidFill>
                <a:latin typeface="JetBrains Mono"/>
                <a:ea typeface="JetBrains Mono"/>
                <a:cs typeface="JetBrains Mono"/>
                <a:sym typeface="JetBrains Mono"/>
              </a:rPr>
              <a:t>Rest Provided:</a:t>
            </a:r>
            <a:r>
              <a:rPr b="0" lang="en-US" sz="1120">
                <a:solidFill>
                  <a:srgbClr val="334155"/>
                </a:solidFill>
                <a:latin typeface="JetBrains Mono"/>
                <a:ea typeface="JetBrains Mono"/>
                <a:cs typeface="JetBrains Mono"/>
                <a:sym typeface="JetBrains Mono"/>
              </a:rPr>
              <a:t> 10.1h before next call</a:t>
            </a:r>
            <a:endParaRPr b="1" sz="1120">
              <a:solidFill>
                <a:srgbClr val="334155"/>
              </a:solidFill>
              <a:latin typeface="JetBrains Mono"/>
              <a:ea typeface="JetBrains Mono"/>
              <a:cs typeface="JetBrains Mono"/>
              <a:sym typeface="JetBrains Mono"/>
            </a:endParaRPr>
          </a:p>
        </p:txBody>
      </p:sp>
      <p:sp>
        <p:nvSpPr>
          <p:cNvPr id="327" name="Google Shape;327;p26"/>
          <p:cNvSpPr txBox="1"/>
          <p:nvPr/>
        </p:nvSpPr>
        <p:spPr>
          <a:xfrm>
            <a:off x="6023610" y="1485900"/>
            <a:ext cx="5334000" cy="4287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b="1" lang="en-US" sz="1148">
                <a:solidFill>
                  <a:srgbClr val="38BDF8"/>
                </a:solidFill>
                <a:latin typeface="Space Grotesk"/>
                <a:ea typeface="Space Grotesk"/>
                <a:cs typeface="Space Grotesk"/>
                <a:sym typeface="Space Grotesk"/>
              </a:rPr>
              <a:t>Generated Audit Output</a:t>
            </a:r>
            <a:endParaRPr b="1" sz="1148">
              <a:solidFill>
                <a:srgbClr val="38BDF8"/>
              </a:solidFill>
              <a:latin typeface="Space Grotesk"/>
              <a:ea typeface="Space Grotesk"/>
              <a:cs typeface="Space Grotesk"/>
              <a:sym typeface="Space Grotesk"/>
            </a:endParaRPr>
          </a:p>
        </p:txBody>
      </p:sp>
      <p:sp>
        <p:nvSpPr>
          <p:cNvPr id="328" name="Google Shape;328;p26"/>
          <p:cNvSpPr txBox="1"/>
          <p:nvPr/>
        </p:nvSpPr>
        <p:spPr>
          <a:xfrm>
            <a:off x="6023610" y="1905000"/>
            <a:ext cx="5334000" cy="4572000"/>
          </a:xfrm>
          <a:prstGeom prst="rect">
            <a:avLst/>
          </a:prstGeom>
          <a:noFill/>
          <a:ln>
            <a:noFill/>
          </a:ln>
        </p:spPr>
        <p:txBody>
          <a:bodyPr anchorCtr="0" anchor="ctr" bIns="121900" lIns="121900" spcFirstLastPara="1" rIns="121900" wrap="square" tIns="121900">
            <a:noAutofit/>
          </a:bodyPr>
          <a:lstStyle/>
          <a:p>
            <a:pPr indent="0" lvl="0" marL="0" rtl="0" algn="l">
              <a:lnSpc>
                <a:spcPct val="105000"/>
              </a:lnSpc>
              <a:spcBef>
                <a:spcPts val="0"/>
              </a:spcBef>
              <a:spcAft>
                <a:spcPts val="0"/>
              </a:spcAft>
              <a:buNone/>
            </a:pPr>
            <a:r>
              <a:rPr b="0" lang="en-US" sz="925">
                <a:solidFill>
                  <a:srgbClr val="CBD5E1"/>
                </a:solidFill>
                <a:latin typeface="JetBrains Mono"/>
                <a:ea typeface="JetBrains Mono"/>
                <a:cs typeface="JetBrains Mono"/>
                <a:sym typeface="JetBrains Mono"/>
              </a:rPr>
              <a:t>{</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"agreement": "UBCP",</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"role": "Principal Actor",</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"status": "VIOLATIONS DETECTED",</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"is_compliant": false,</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"violations": [</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"type": "Delayed Meal Penalty",</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"clause": "Art. A2705",</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"hours": 0.5,</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"description": "First meal at 5.5h exceeds 5.0h window"</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"type": "Rest Period Failure",</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"clause": "Art. A14",</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"hours": 0.3,</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"description": "Rest period of 10.3h fails mandatory minimum"</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"grounding_clauses": [</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"UBCP Article A2705 (p. 78)",</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"UBCP Article A14 (p. 53)"</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0"/>
              </a:spcAft>
              <a:buNone/>
            </a:pPr>
            <a:r>
              <a:rPr b="0" lang="en-US" sz="925">
                <a:solidFill>
                  <a:srgbClr val="CBD5E1"/>
                </a:solidFill>
                <a:latin typeface="JetBrains Mono"/>
                <a:ea typeface="JetBrains Mono"/>
                <a:cs typeface="JetBrains Mono"/>
                <a:sym typeface="JetBrains Mono"/>
              </a:rPr>
              <a:t>  ]</a:t>
            </a:r>
            <a:endParaRPr b="0" sz="925">
              <a:solidFill>
                <a:srgbClr val="CBD5E1"/>
              </a:solidFill>
              <a:latin typeface="JetBrains Mono"/>
              <a:ea typeface="JetBrains Mono"/>
              <a:cs typeface="JetBrains Mono"/>
              <a:sym typeface="JetBrains Mono"/>
            </a:endParaRPr>
          </a:p>
          <a:p>
            <a:pPr indent="0" lvl="0" marL="0" rtl="0" algn="l">
              <a:lnSpc>
                <a:spcPct val="105000"/>
              </a:lnSpc>
              <a:spcBef>
                <a:spcPts val="200"/>
              </a:spcBef>
              <a:spcAft>
                <a:spcPts val="200"/>
              </a:spcAft>
              <a:buNone/>
            </a:pPr>
            <a:r>
              <a:rPr b="0" lang="en-US" sz="925">
                <a:solidFill>
                  <a:srgbClr val="CBD5E1"/>
                </a:solidFill>
                <a:latin typeface="JetBrains Mono"/>
                <a:ea typeface="JetBrains Mono"/>
                <a:cs typeface="JetBrains Mono"/>
                <a:sym typeface="JetBrains Mono"/>
              </a:rPr>
              <a:t>}</a:t>
            </a:r>
            <a:endParaRPr b="0" sz="925">
              <a:solidFill>
                <a:srgbClr val="CBD5E1"/>
              </a:solidFill>
              <a:latin typeface="JetBrains Mono"/>
              <a:ea typeface="JetBrains Mono"/>
              <a:cs typeface="JetBrains Mono"/>
              <a:sym typeface="JetBrains Mono"/>
            </a:endParaRPr>
          </a:p>
        </p:txBody>
      </p:sp>
      <p:sp>
        <p:nvSpPr>
          <p:cNvPr id="329" name="Google Shape;329;p26"/>
          <p:cNvSpPr/>
          <p:nvPr/>
        </p:nvSpPr>
        <p:spPr>
          <a:xfrm>
            <a:off x="8915400" y="514350"/>
            <a:ext cx="2667000" cy="324000"/>
          </a:xfrm>
          <a:prstGeom prst="roundRect">
            <a:avLst>
              <a:gd fmla="val 1764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6"/>
          <p:cNvSpPr txBox="1"/>
          <p:nvPr/>
        </p:nvSpPr>
        <p:spPr>
          <a:xfrm>
            <a:off x="8915400" y="514350"/>
            <a:ext cx="26670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lang="en-US" sz="950">
                <a:solidFill>
                  <a:srgbClr val="475569"/>
                </a:solidFill>
                <a:latin typeface="Inter Medium"/>
                <a:ea typeface="Inter Medium"/>
                <a:cs typeface="Inter Medium"/>
                <a:sym typeface="Inter Medium"/>
              </a:rPr>
              <a:t>demo_cli.py</a:t>
            </a:r>
            <a:endParaRPr b="0" i="0" sz="950">
              <a:solidFill>
                <a:srgbClr val="475569"/>
              </a:solidFill>
              <a:latin typeface="Inter Medium"/>
              <a:ea typeface="Inter Medium"/>
              <a:cs typeface="Inter Medium"/>
              <a:sym typeface="Inter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27"/>
          <p:cNvSpPr/>
          <p:nvPr/>
        </p:nvSpPr>
        <p:spPr>
          <a:xfrm>
            <a:off x="609600" y="2595562"/>
            <a:ext cx="5334000" cy="2099071"/>
          </a:xfrm>
          <a:prstGeom prst="roundRect">
            <a:avLst>
              <a:gd fmla="val 5445"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6" name="Google Shape;336;p27"/>
          <p:cNvSpPr/>
          <p:nvPr/>
        </p:nvSpPr>
        <p:spPr>
          <a:xfrm>
            <a:off x="6248400" y="2595562"/>
            <a:ext cx="5334000" cy="2099071"/>
          </a:xfrm>
          <a:prstGeom prst="roundRect">
            <a:avLst>
              <a:gd fmla="val 5445"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27"/>
          <p:cNvSpPr txBox="1"/>
          <p:nvPr/>
        </p:nvSpPr>
        <p:spPr>
          <a:xfrm>
            <a:off x="609600" y="457200"/>
            <a:ext cx="115824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Inter"/>
                <a:ea typeface="Inter"/>
                <a:cs typeface="Inter"/>
                <a:sym typeface="Inter"/>
              </a:rPr>
              <a:t>HARDWARE &amp; ECONOMICS</a:t>
            </a:r>
            <a:endParaRPr/>
          </a:p>
        </p:txBody>
      </p:sp>
      <p:sp>
        <p:nvSpPr>
          <p:cNvPr id="338" name="Google Shape;338;p27"/>
          <p:cNvSpPr txBox="1"/>
          <p:nvPr/>
        </p:nvSpPr>
        <p:spPr>
          <a:xfrm>
            <a:off x="609600" y="695325"/>
            <a:ext cx="11582400" cy="365670"/>
          </a:xfrm>
          <a:prstGeom prst="rect">
            <a:avLst/>
          </a:prstGeom>
          <a:noFill/>
          <a:ln>
            <a:noFill/>
          </a:ln>
        </p:spPr>
        <p:txBody>
          <a:bodyPr anchorCtr="0" anchor="t" bIns="0" lIns="0" spcFirstLastPara="1" rIns="0" wrap="square" tIns="0">
            <a:spAutoFit/>
          </a:bodyPr>
          <a:lstStyle/>
          <a:p>
            <a:r>
              <a:rPr sz="2400" b="1" i="0">
                <a:solidFill>
                  <a:srgbClr val="0F172A"/>
                </a:solidFill>
                <a:latin typeface="Space Grotesk"/>
              </a:rPr>
              <a:t>Infrastructure, Latency &amp; Cost Trade-Offs</a:t>
            </a:r>
          </a:p>
        </p:txBody>
      </p:sp>
      <p:sp>
        <p:nvSpPr>
          <p:cNvPr id="339" name="Google Shape;339;p27"/>
          <p:cNvSpPr txBox="1"/>
          <p:nvPr/>
        </p:nvSpPr>
        <p:spPr>
          <a:xfrm>
            <a:off x="876300" y="2862262"/>
            <a:ext cx="6300787" cy="247650"/>
          </a:xfrm>
          <a:prstGeom prst="rect">
            <a:avLst/>
          </a:prstGeom>
          <a:noFill/>
          <a:ln>
            <a:noFill/>
          </a:ln>
        </p:spPr>
        <p:txBody>
          <a:bodyPr anchorCtr="0" anchor="t" bIns="0" lIns="0" spcFirstLastPara="1" rIns="0" wrap="square" tIns="0">
            <a:spAutoFit/>
          </a:bodyPr>
          <a:lstStyle/>
          <a:p>
            <a:r>
              <a:rPr sz="1500" b="1" i="0">
                <a:solidFill>
                  <a:srgbClr val="0F172A"/>
                </a:solidFill>
                <a:latin typeface="Space Grotesk"/>
              </a:rPr>
              <a:t>Measured Local Setup (Intel Core i5 Mac)</a:t>
            </a:r>
          </a:p>
        </p:txBody>
      </p:sp>
      <p:sp>
        <p:nvSpPr>
          <p:cNvPr id="340" name="Google Shape;340;p27"/>
          <p:cNvSpPr txBox="1"/>
          <p:nvPr/>
        </p:nvSpPr>
        <p:spPr>
          <a:xfrm>
            <a:off x="6515100" y="2862262"/>
            <a:ext cx="5676900" cy="247650"/>
          </a:xfrm>
          <a:prstGeom prst="rect">
            <a:avLst/>
          </a:prstGeom>
          <a:noFill/>
          <a:ln>
            <a:noFill/>
          </a:ln>
        </p:spPr>
        <p:txBody>
          <a:bodyPr anchorCtr="0" anchor="t" bIns="0" lIns="0" spcFirstLastPara="1" rIns="0" wrap="square" tIns="0">
            <a:spAutoFit/>
          </a:bodyPr>
          <a:lstStyle/>
          <a:p>
            <a:r>
              <a:rPr sz="1500" b="1" i="0">
                <a:solidFill>
                  <a:srgbClr val="0F172A"/>
                </a:solidFill>
                <a:latin typeface="Space Grotesk"/>
              </a:rPr>
              <a:t>Estimated Cloud Setup (AWS g5.xlarge / A10G)</a:t>
            </a:r>
          </a:p>
        </p:txBody>
      </p:sp>
      <p:sp>
        <p:nvSpPr>
          <p:cNvPr id="341" name="Google Shape;341;p27"/>
          <p:cNvSpPr txBox="1"/>
          <p:nvPr/>
        </p:nvSpPr>
        <p:spPr>
          <a:xfrm>
            <a:off x="971550" y="3260407"/>
            <a:ext cx="95250"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a:t>
            </a:r>
            <a:endParaRPr/>
          </a:p>
        </p:txBody>
      </p:sp>
      <p:sp>
        <p:nvSpPr>
          <p:cNvPr id="342" name="Google Shape;342;p27"/>
          <p:cNvSpPr txBox="1"/>
          <p:nvPr/>
        </p:nvSpPr>
        <p:spPr>
          <a:xfrm>
            <a:off x="1066800" y="3262312"/>
            <a:ext cx="5762625" cy="291405"/>
          </a:xfrm>
          <a:prstGeom prst="rect">
            <a:avLst/>
          </a:prstGeom>
          <a:noFill/>
          <a:ln>
            <a:noFill/>
          </a:ln>
        </p:spPr>
        <p:txBody>
          <a:bodyPr anchorCtr="0" anchor="t" bIns="0" lIns="95250" spcFirstLastPara="1" rIns="0" wrap="square" tIns="0">
            <a:spAutoFit/>
          </a:bodyPr>
          <a:lstStyle/>
          <a:p>
            <a:r>
              <a:rPr sz="1350" b="1" i="0">
                <a:solidFill>
                  <a:srgbClr val="475569"/>
                </a:solidFill>
                <a:latin typeface="Inter"/>
              </a:rPr>
              <a:t>Compute: Intel Core i5 CPU, 16 GB RAM (Zero GPU).</a:t>
            </a:r>
          </a:p>
        </p:txBody>
      </p:sp>
      <p:sp>
        <p:nvSpPr>
          <p:cNvPr id="343" name="Google Shape;343;p27"/>
          <p:cNvSpPr txBox="1"/>
          <p:nvPr/>
        </p:nvSpPr>
        <p:spPr>
          <a:xfrm>
            <a:off x="971550" y="3551812"/>
            <a:ext cx="95250"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a:t>
            </a:r>
            <a:endParaRPr/>
          </a:p>
        </p:txBody>
      </p:sp>
      <p:sp>
        <p:nvSpPr>
          <p:cNvPr id="344" name="Google Shape;344;p27"/>
          <p:cNvSpPr txBox="1"/>
          <p:nvPr/>
        </p:nvSpPr>
        <p:spPr>
          <a:xfrm>
            <a:off x="1066800" y="3553717"/>
            <a:ext cx="5762625" cy="291405"/>
          </a:xfrm>
          <a:prstGeom prst="rect">
            <a:avLst/>
          </a:prstGeom>
          <a:noFill/>
          <a:ln>
            <a:noFill/>
          </a:ln>
        </p:spPr>
        <p:txBody>
          <a:bodyPr anchorCtr="0" anchor="t" bIns="0" lIns="95250" spcFirstLastPara="1" rIns="0" wrap="square" tIns="0">
            <a:spAutoFit/>
          </a:bodyPr>
          <a:lstStyle/>
          <a:p>
            <a:r>
              <a:rPr sz="1350" b="1" i="0">
                <a:solidFill>
                  <a:srgbClr val="475569"/>
                </a:solidFill>
                <a:latin typeface="Inter"/>
              </a:rPr>
              <a:t>Training Time: 24.8 minutes (200 steps, AdamW, dynamic batching).</a:t>
            </a:r>
          </a:p>
        </p:txBody>
      </p:sp>
      <p:sp>
        <p:nvSpPr>
          <p:cNvPr id="345" name="Google Shape;345;p27"/>
          <p:cNvSpPr txBox="1"/>
          <p:nvPr/>
        </p:nvSpPr>
        <p:spPr>
          <a:xfrm>
            <a:off x="971550" y="3843218"/>
            <a:ext cx="95250"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a:t>
            </a:r>
            <a:endParaRPr/>
          </a:p>
        </p:txBody>
      </p:sp>
      <p:sp>
        <p:nvSpPr>
          <p:cNvPr id="346" name="Google Shape;346;p27"/>
          <p:cNvSpPr txBox="1"/>
          <p:nvPr/>
        </p:nvSpPr>
        <p:spPr>
          <a:xfrm>
            <a:off x="1066800" y="3845123"/>
            <a:ext cx="5762625" cy="291405"/>
          </a:xfrm>
          <a:prstGeom prst="rect">
            <a:avLst/>
          </a:prstGeom>
          <a:noFill/>
          <a:ln>
            <a:noFill/>
          </a:ln>
        </p:spPr>
        <p:txBody>
          <a:bodyPr anchorCtr="0" anchor="t" bIns="0" lIns="95250" spcFirstLastPara="1" rIns="0" wrap="square" tIns="0">
            <a:spAutoFit/>
          </a:bodyPr>
          <a:lstStyle/>
          <a:p>
            <a:r>
              <a:rPr sz="1350" b="1" i="0">
                <a:solidFill>
                  <a:srgbClr val="475569"/>
                </a:solidFill>
                <a:latin typeface="Inter"/>
              </a:rPr>
              <a:t>Peak Memory: 1.8 GB RAM | Inference Latency: 21.4s / audit.</a:t>
            </a:r>
          </a:p>
        </p:txBody>
      </p:sp>
      <p:sp>
        <p:nvSpPr>
          <p:cNvPr id="347" name="Google Shape;347;p27"/>
          <p:cNvSpPr txBox="1"/>
          <p:nvPr/>
        </p:nvSpPr>
        <p:spPr>
          <a:xfrm>
            <a:off x="971550" y="4134623"/>
            <a:ext cx="95250"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a:t>
            </a:r>
            <a:endParaRPr/>
          </a:p>
        </p:txBody>
      </p:sp>
      <p:sp>
        <p:nvSpPr>
          <p:cNvPr id="348" name="Google Shape;348;p27"/>
          <p:cNvSpPr txBox="1"/>
          <p:nvPr/>
        </p:nvSpPr>
        <p:spPr>
          <a:xfrm>
            <a:off x="1066800" y="4136528"/>
            <a:ext cx="5762625" cy="291405"/>
          </a:xfrm>
          <a:prstGeom prst="rect">
            <a:avLst/>
          </a:prstGeom>
          <a:noFill/>
          <a:ln>
            <a:noFill/>
          </a:ln>
        </p:spPr>
        <p:txBody>
          <a:bodyPr anchorCtr="0" anchor="t" bIns="0" lIns="95250" spcFirstLastPara="1" rIns="0" wrap="square" tIns="0">
            <a:spAutoFit/>
          </a:bodyPr>
          <a:lstStyle/>
          <a:p>
            <a:r>
              <a:rPr sz="1350" b="1" i="0">
                <a:solidFill>
                  <a:srgbClr val="475569"/>
                </a:solidFill>
                <a:latin typeface="Inter"/>
              </a:rPr>
              <a:t>Measured Compute Cost: $0.00 local hardware cost.</a:t>
            </a:r>
          </a:p>
        </p:txBody>
      </p:sp>
      <p:sp>
        <p:nvSpPr>
          <p:cNvPr id="349" name="Google Shape;349;p27"/>
          <p:cNvSpPr txBox="1"/>
          <p:nvPr/>
        </p:nvSpPr>
        <p:spPr>
          <a:xfrm>
            <a:off x="6610350" y="3260407"/>
            <a:ext cx="95250"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a:t>
            </a:r>
            <a:endParaRPr/>
          </a:p>
        </p:txBody>
      </p:sp>
      <p:sp>
        <p:nvSpPr>
          <p:cNvPr id="350" name="Google Shape;350;p27"/>
          <p:cNvSpPr txBox="1"/>
          <p:nvPr/>
        </p:nvSpPr>
        <p:spPr>
          <a:xfrm>
            <a:off x="6705600" y="3262312"/>
            <a:ext cx="5486400" cy="291405"/>
          </a:xfrm>
          <a:prstGeom prst="rect">
            <a:avLst/>
          </a:prstGeom>
          <a:noFill/>
          <a:ln>
            <a:noFill/>
          </a:ln>
        </p:spPr>
        <p:txBody>
          <a:bodyPr anchorCtr="0" anchor="t" bIns="0" lIns="95250" spcFirstLastPara="1" rIns="0" wrap="square" tIns="0">
            <a:spAutoFit/>
          </a:bodyPr>
          <a:lstStyle/>
          <a:p>
            <a:r>
              <a:rPr sz="1350" b="1" i="0">
                <a:solidFill>
                  <a:srgbClr val="475569"/>
                </a:solidFill>
                <a:latin typeface="Inter"/>
              </a:rPr>
              <a:t>Estimated Cloud Compute: AWS g5.xlarge (NVIDIA A10G 24GB VRAM).</a:t>
            </a:r>
          </a:p>
        </p:txBody>
      </p:sp>
      <p:sp>
        <p:nvSpPr>
          <p:cNvPr id="351" name="Google Shape;351;p27"/>
          <p:cNvSpPr txBox="1"/>
          <p:nvPr/>
        </p:nvSpPr>
        <p:spPr>
          <a:xfrm>
            <a:off x="6610350" y="3551812"/>
            <a:ext cx="95250"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a:t>
            </a:r>
            <a:endParaRPr/>
          </a:p>
        </p:txBody>
      </p:sp>
      <p:sp>
        <p:nvSpPr>
          <p:cNvPr id="352" name="Google Shape;352;p27"/>
          <p:cNvSpPr txBox="1"/>
          <p:nvPr/>
        </p:nvSpPr>
        <p:spPr>
          <a:xfrm>
            <a:off x="6705600" y="3553717"/>
            <a:ext cx="5486400" cy="291405"/>
          </a:xfrm>
          <a:prstGeom prst="rect">
            <a:avLst/>
          </a:prstGeom>
          <a:noFill/>
          <a:ln>
            <a:noFill/>
          </a:ln>
        </p:spPr>
        <p:txBody>
          <a:bodyPr anchorCtr="0" anchor="t" bIns="0" lIns="95250" spcFirstLastPara="1" rIns="0" wrap="square" tIns="0">
            <a:spAutoFit/>
          </a:bodyPr>
          <a:lstStyle/>
          <a:p>
            <a:r>
              <a:rPr sz="1350" b="1" i="0">
                <a:solidFill>
                  <a:srgbClr val="475569"/>
                </a:solidFill>
                <a:latin typeface="Inter"/>
              </a:rPr>
              <a:t>Estimated Training Time: &lt; 3.5 minutes.</a:t>
            </a:r>
          </a:p>
        </p:txBody>
      </p:sp>
      <p:sp>
        <p:nvSpPr>
          <p:cNvPr id="353" name="Google Shape;353;p27"/>
          <p:cNvSpPr txBox="1"/>
          <p:nvPr/>
        </p:nvSpPr>
        <p:spPr>
          <a:xfrm>
            <a:off x="6610350" y="3843218"/>
            <a:ext cx="95250"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a:t>
            </a:r>
            <a:endParaRPr/>
          </a:p>
        </p:txBody>
      </p:sp>
      <p:sp>
        <p:nvSpPr>
          <p:cNvPr id="354" name="Google Shape;354;p27"/>
          <p:cNvSpPr txBox="1"/>
          <p:nvPr/>
        </p:nvSpPr>
        <p:spPr>
          <a:xfrm>
            <a:off x="6705600" y="3845123"/>
            <a:ext cx="5486400" cy="291405"/>
          </a:xfrm>
          <a:prstGeom prst="rect">
            <a:avLst/>
          </a:prstGeom>
          <a:noFill/>
          <a:ln>
            <a:noFill/>
          </a:ln>
        </p:spPr>
        <p:txBody>
          <a:bodyPr anchorCtr="0" anchor="t" bIns="0" lIns="95250" spcFirstLastPara="1" rIns="0" wrap="square" tIns="0">
            <a:spAutoFit/>
          </a:bodyPr>
          <a:lstStyle/>
          <a:p>
            <a:r>
              <a:rPr sz="1350" b="1" i="0">
                <a:solidFill>
                  <a:srgbClr val="475569"/>
                </a:solidFill>
                <a:latin typeface="Inter"/>
              </a:rPr>
              <a:t>Estimated Inference Latency: &lt; 380ms / audit (56x speedup).</a:t>
            </a:r>
          </a:p>
        </p:txBody>
      </p:sp>
      <p:sp>
        <p:nvSpPr>
          <p:cNvPr id="355" name="Google Shape;355;p27"/>
          <p:cNvSpPr txBox="1"/>
          <p:nvPr/>
        </p:nvSpPr>
        <p:spPr>
          <a:xfrm>
            <a:off x="6610350" y="4134623"/>
            <a:ext cx="95250"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a:t>
            </a:r>
            <a:endParaRPr/>
          </a:p>
        </p:txBody>
      </p:sp>
      <p:sp>
        <p:nvSpPr>
          <p:cNvPr id="356" name="Google Shape;356;p27"/>
          <p:cNvSpPr txBox="1"/>
          <p:nvPr/>
        </p:nvSpPr>
        <p:spPr>
          <a:xfrm>
            <a:off x="6705600" y="4136528"/>
            <a:ext cx="5486400" cy="207900"/>
          </a:xfrm>
          <a:prstGeom prst="rect">
            <a:avLst/>
          </a:prstGeom>
          <a:noFill/>
          <a:ln>
            <a:noFill/>
          </a:ln>
        </p:spPr>
        <p:txBody>
          <a:bodyPr anchorCtr="0" anchor="t" bIns="0" lIns="95250" spcFirstLastPara="1" rIns="0" wrap="square" tIns="0">
            <a:spAutoFit/>
          </a:bodyPr>
          <a:lstStyle/>
          <a:p>
            <a:r>
              <a:rPr sz="1350" b="1" i="0">
                <a:solidFill>
                  <a:srgbClr val="475569"/>
                </a:solidFill>
                <a:latin typeface="Inter"/>
              </a:rPr>
              <a:t>Estimated Cloud Cost: ~$0.306 / hr (spot) | ~$0.0001 per audit.</a:t>
            </a:r>
          </a:p>
        </p:txBody>
      </p:sp>
      <p:sp>
        <p:nvSpPr>
          <p:cNvPr id="357" name="Google Shape;357;p27"/>
          <p:cNvSpPr txBox="1"/>
          <p:nvPr/>
        </p:nvSpPr>
        <p:spPr>
          <a:xfrm>
            <a:off x="609600" y="5143500"/>
            <a:ext cx="11582400" cy="207900"/>
          </a:xfrm>
          <a:prstGeom prst="rect">
            <a:avLst/>
          </a:prstGeom>
          <a:solidFill>
            <a:srgbClr val="000000">
              <a:alpha val="0"/>
            </a:srgbClr>
          </a:solidFill>
          <a:ln>
            <a:noFill/>
          </a:ln>
        </p:spPr>
        <p:txBody>
          <a:bodyPr anchorCtr="0" anchor="t" bIns="0" lIns="0" spcFirstLastPara="1" rIns="0" wrap="square" tIns="0">
            <a:spAutoFit/>
          </a:bodyPr>
          <a:lstStyle/>
          <a:p>
            <a:r>
              <a:rPr sz="1350" b="1">
                <a:solidFill>
                  <a:srgbClr val="334155"/>
                </a:solidFill>
                <a:latin typeface="Inter"/>
              </a:rPr>
              <a:t>Computational Costs: Development included a $3.00 Antigravity assistant API credit for pipeline development &amp; scaffolding.</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8"/>
          <p:cNvSpPr/>
          <p:nvPr/>
        </p:nvSpPr>
        <p:spPr>
          <a:xfrm>
            <a:off x="609600" y="2946945"/>
            <a:ext cx="3505200" cy="1396305"/>
          </a:xfrm>
          <a:prstGeom prst="roundRect">
            <a:avLst>
              <a:gd fmla="val 8185"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3" name="Google Shape;363;p28"/>
          <p:cNvSpPr/>
          <p:nvPr/>
        </p:nvSpPr>
        <p:spPr>
          <a:xfrm>
            <a:off x="4343400" y="2946945"/>
            <a:ext cx="3505200" cy="1396305"/>
          </a:xfrm>
          <a:prstGeom prst="roundRect">
            <a:avLst>
              <a:gd fmla="val 8185"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4" name="Google Shape;364;p28"/>
          <p:cNvSpPr/>
          <p:nvPr/>
        </p:nvSpPr>
        <p:spPr>
          <a:xfrm>
            <a:off x="8077200" y="2946945"/>
            <a:ext cx="3505200" cy="1396305"/>
          </a:xfrm>
          <a:prstGeom prst="roundRect">
            <a:avLst>
              <a:gd fmla="val 8185"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5" name="Google Shape;365;p28"/>
          <p:cNvSpPr txBox="1"/>
          <p:nvPr/>
        </p:nvSpPr>
        <p:spPr>
          <a:xfrm>
            <a:off x="609600" y="457200"/>
            <a:ext cx="115824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Inter"/>
                <a:ea typeface="Inter"/>
                <a:cs typeface="Inter"/>
                <a:sym typeface="Inter"/>
              </a:rPr>
              <a:t>ENGINEERING RETROSPECTIVE</a:t>
            </a:r>
            <a:endParaRPr/>
          </a:p>
        </p:txBody>
      </p:sp>
      <p:sp>
        <p:nvSpPr>
          <p:cNvPr id="366" name="Google Shape;366;p28"/>
          <p:cNvSpPr txBox="1"/>
          <p:nvPr/>
        </p:nvSpPr>
        <p:spPr>
          <a:xfrm>
            <a:off x="609600" y="695325"/>
            <a:ext cx="11582400" cy="365670"/>
          </a:xfrm>
          <a:prstGeom prst="rect">
            <a:avLst/>
          </a:prstGeom>
          <a:noFill/>
          <a:ln>
            <a:noFill/>
          </a:ln>
        </p:spPr>
        <p:txBody>
          <a:bodyPr anchorCtr="0" anchor="t" bIns="0" lIns="0" spcFirstLastPara="1" rIns="0" wrap="square" tIns="0">
            <a:spAutoFit/>
          </a:bodyPr>
          <a:lstStyle/>
          <a:p>
            <a:r>
              <a:rPr sz="2400" b="1" i="0">
                <a:solidFill>
                  <a:srgbClr val="0F172A"/>
                </a:solidFill>
                <a:latin typeface="Space Grotesk"/>
              </a:rPr>
              <a:t>Key Engineering Retrospective &amp; Lessons Learned</a:t>
            </a:r>
          </a:p>
        </p:txBody>
      </p:sp>
      <p:sp>
        <p:nvSpPr>
          <p:cNvPr id="367" name="Google Shape;367;p28"/>
          <p:cNvSpPr txBox="1"/>
          <p:nvPr/>
        </p:nvSpPr>
        <p:spPr>
          <a:xfrm>
            <a:off x="838200" y="3251745"/>
            <a:ext cx="4000500" cy="247650"/>
          </a:xfrm>
          <a:prstGeom prst="rect">
            <a:avLst/>
          </a:prstGeom>
          <a:noFill/>
          <a:ln>
            <a:noFill/>
          </a:ln>
        </p:spPr>
        <p:txBody>
          <a:bodyPr anchorCtr="0" anchor="t" bIns="0" lIns="0" spcFirstLastPara="1" rIns="0" wrap="square" tIns="0">
            <a:spAutoFit/>
          </a:bodyPr>
          <a:lstStyle/>
          <a:p>
            <a:r>
              <a:rPr sz="1500" b="1" i="0">
                <a:solidFill>
                  <a:srgbClr val="0F172A"/>
                </a:solidFill>
                <a:latin typeface="Space Grotesk"/>
              </a:rPr>
              <a:t>1. SFT Mandatory for Structure</a:t>
            </a:r>
          </a:p>
        </p:txBody>
      </p:sp>
      <p:sp>
        <p:nvSpPr>
          <p:cNvPr id="368" name="Google Shape;368;p28"/>
          <p:cNvSpPr txBox="1"/>
          <p:nvPr/>
        </p:nvSpPr>
        <p:spPr>
          <a:xfrm>
            <a:off x="838200" y="3575595"/>
            <a:ext cx="3143250" cy="462855"/>
          </a:xfrm>
          <a:prstGeom prst="rect">
            <a:avLst/>
          </a:prstGeom>
          <a:noFill/>
          <a:ln>
            <a:noFill/>
          </a:ln>
        </p:spPr>
        <p:txBody>
          <a:bodyPr anchorCtr="0" anchor="t" bIns="0" lIns="0" spcFirstLastPara="1" rIns="0" wrap="square" tIns="0">
            <a:spAutoFit/>
          </a:bodyPr>
          <a:lstStyle/>
          <a:p>
            <a:r>
              <a:rPr sz="1350" b="0" i="0">
                <a:solidFill>
                  <a:srgbClr val="475569"/>
                </a:solidFill>
                <a:latin typeface="Inter"/>
              </a:rPr>
              <a:t>Zero-shot sub-1B base models cannot emit valid JSON or perform penalty math without fine-tuning.</a:t>
            </a:r>
          </a:p>
        </p:txBody>
      </p:sp>
      <p:sp>
        <p:nvSpPr>
          <p:cNvPr id="369" name="Google Shape;369;p28"/>
          <p:cNvSpPr txBox="1"/>
          <p:nvPr/>
        </p:nvSpPr>
        <p:spPr>
          <a:xfrm>
            <a:off x="4572000" y="3251745"/>
            <a:ext cx="4000500" cy="231000"/>
          </a:xfrm>
          <a:prstGeom prst="rect">
            <a:avLst/>
          </a:prstGeom>
          <a:noFill/>
          <a:ln>
            <a:noFill/>
          </a:ln>
        </p:spPr>
        <p:txBody>
          <a:bodyPr anchorCtr="0" anchor="t" bIns="0" lIns="0" spcFirstLastPara="1" rIns="0" wrap="square" tIns="0">
            <a:spAutoFit/>
          </a:bodyPr>
          <a:lstStyle/>
          <a:p>
            <a:r>
              <a:rPr sz="1500" b="1" i="0">
                <a:solidFill>
                  <a:srgbClr val="0F172A"/>
                </a:solidFill>
                <a:latin typeface="Space Grotesk"/>
              </a:rPr>
              <a:t>2. Context Drift &amp; Attention Dilution</a:t>
            </a:r>
          </a:p>
        </p:txBody>
      </p:sp>
      <p:sp>
        <p:nvSpPr>
          <p:cNvPr id="370" name="Google Shape;370;p28"/>
          <p:cNvSpPr txBox="1"/>
          <p:nvPr/>
        </p:nvSpPr>
        <p:spPr>
          <a:xfrm>
            <a:off x="4572000" y="3575595"/>
            <a:ext cx="3143400" cy="488100"/>
          </a:xfrm>
          <a:prstGeom prst="rect">
            <a:avLst/>
          </a:prstGeom>
          <a:noFill/>
          <a:ln>
            <a:noFill/>
          </a:ln>
        </p:spPr>
        <p:txBody>
          <a:bodyPr anchorCtr="0" anchor="t" bIns="0" lIns="0" spcFirstLastPara="1" rIns="0" wrap="square" tIns="0">
            <a:spAutoFit/>
          </a:bodyPr>
          <a:lstStyle/>
          <a:p>
            <a:r>
              <a:rPr sz="1350">
                <a:solidFill>
                  <a:srgbClr val="475569"/>
                </a:solidFill>
                <a:latin typeface="Inter"/>
              </a:rPr>
              <a:t>Prepending unaligned legal passages dilutes compact model attention, causing conversational drift.</a:t>
            </a:r>
          </a:p>
        </p:txBody>
      </p:sp>
      <p:sp>
        <p:nvSpPr>
          <p:cNvPr id="371" name="Google Shape;371;p28"/>
          <p:cNvSpPr txBox="1"/>
          <p:nvPr/>
        </p:nvSpPr>
        <p:spPr>
          <a:xfrm>
            <a:off x="8305800" y="3251745"/>
            <a:ext cx="3886200" cy="247650"/>
          </a:xfrm>
          <a:prstGeom prst="rect">
            <a:avLst/>
          </a:prstGeom>
          <a:noFill/>
          <a:ln>
            <a:noFill/>
          </a:ln>
        </p:spPr>
        <p:txBody>
          <a:bodyPr anchorCtr="0" anchor="t" bIns="0" lIns="0" spcFirstLastPara="1" rIns="0" wrap="square" tIns="0">
            <a:spAutoFit/>
          </a:bodyPr>
          <a:lstStyle/>
          <a:p>
            <a:r>
              <a:rPr sz="1500" b="1" i="0">
                <a:solidFill>
                  <a:srgbClr val="0F172A"/>
                </a:solidFill>
                <a:latin typeface="Space Grotesk"/>
              </a:rPr>
              <a:t>3. Train In Exact Distribution</a:t>
            </a:r>
          </a:p>
        </p:txBody>
      </p:sp>
      <p:sp>
        <p:nvSpPr>
          <p:cNvPr id="372" name="Google Shape;372;p28"/>
          <p:cNvSpPr txBox="1"/>
          <p:nvPr/>
        </p:nvSpPr>
        <p:spPr>
          <a:xfrm>
            <a:off x="8305800" y="3575595"/>
            <a:ext cx="3143250" cy="462855"/>
          </a:xfrm>
          <a:prstGeom prst="rect">
            <a:avLst/>
          </a:prstGeom>
          <a:noFill/>
          <a:ln>
            <a:noFill/>
          </a:ln>
        </p:spPr>
        <p:txBody>
          <a:bodyPr anchorCtr="0" anchor="t" bIns="0" lIns="0" spcFirstLastPara="1" rIns="0" wrap="square" tIns="0">
            <a:spAutoFit/>
          </a:bodyPr>
          <a:lstStyle/>
          <a:p>
            <a:r>
              <a:rPr sz="1350" b="0" i="0">
                <a:solidFill>
                  <a:srgbClr val="475569"/>
                </a:solidFill>
                <a:latin typeface="Inter"/>
              </a:rPr>
              <a:t>SFT training prompts must match production RAG morphology exactly, or retrieval must be decoupled.</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sp>
        <p:nvSpPr>
          <p:cNvPr id="377" name="Google Shape;377;p29"/>
          <p:cNvSpPr/>
          <p:nvPr/>
        </p:nvSpPr>
        <p:spPr>
          <a:xfrm>
            <a:off x="609600" y="2808833"/>
            <a:ext cx="3505200" cy="1672530"/>
          </a:xfrm>
          <a:prstGeom prst="roundRect">
            <a:avLst>
              <a:gd fmla="val 6833"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29"/>
          <p:cNvSpPr/>
          <p:nvPr/>
        </p:nvSpPr>
        <p:spPr>
          <a:xfrm>
            <a:off x="4343400" y="2808833"/>
            <a:ext cx="3505200" cy="1672530"/>
          </a:xfrm>
          <a:prstGeom prst="roundRect">
            <a:avLst>
              <a:gd fmla="val 6833"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9"/>
          <p:cNvSpPr/>
          <p:nvPr/>
        </p:nvSpPr>
        <p:spPr>
          <a:xfrm>
            <a:off x="8077200" y="2808833"/>
            <a:ext cx="3505200" cy="1672530"/>
          </a:xfrm>
          <a:prstGeom prst="roundRect">
            <a:avLst>
              <a:gd fmla="val 6833"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0" name="Google Shape;380;p29"/>
          <p:cNvSpPr txBox="1"/>
          <p:nvPr/>
        </p:nvSpPr>
        <p:spPr>
          <a:xfrm>
            <a:off x="609600" y="457200"/>
            <a:ext cx="115824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Inter"/>
                <a:ea typeface="Inter"/>
                <a:cs typeface="Inter"/>
                <a:sym typeface="Inter"/>
              </a:rPr>
              <a:t>NEXT STEPS &amp; ROADMAP</a:t>
            </a:r>
            <a:endParaRPr/>
          </a:p>
        </p:txBody>
      </p:sp>
      <p:sp>
        <p:nvSpPr>
          <p:cNvPr id="381" name="Google Shape;381;p29"/>
          <p:cNvSpPr txBox="1"/>
          <p:nvPr/>
        </p:nvSpPr>
        <p:spPr>
          <a:xfrm>
            <a:off x="609600" y="695325"/>
            <a:ext cx="11582400" cy="36567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0F172A"/>
                </a:solidFill>
                <a:latin typeface="Space Grotesk"/>
                <a:ea typeface="Space Grotesk"/>
                <a:cs typeface="Space Grotesk"/>
                <a:sym typeface="Space Grotesk"/>
              </a:rPr>
              <a:t>Path to Enterprise Production</a:t>
            </a:r>
            <a:endParaRPr/>
          </a:p>
        </p:txBody>
      </p:sp>
      <p:sp>
        <p:nvSpPr>
          <p:cNvPr id="382" name="Google Shape;382;p29"/>
          <p:cNvSpPr txBox="1"/>
          <p:nvPr/>
        </p:nvSpPr>
        <p:spPr>
          <a:xfrm>
            <a:off x="838200" y="3075533"/>
            <a:ext cx="381000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284C7"/>
                </a:solidFill>
                <a:latin typeface="Inter"/>
                <a:ea typeface="Inter"/>
                <a:cs typeface="Inter"/>
                <a:sym typeface="Inter"/>
              </a:rPr>
              <a:t>01</a:t>
            </a:r>
            <a:endParaRPr/>
          </a:p>
        </p:txBody>
      </p:sp>
      <p:sp>
        <p:nvSpPr>
          <p:cNvPr id="383" name="Google Shape;383;p29"/>
          <p:cNvSpPr txBox="1"/>
          <p:nvPr/>
        </p:nvSpPr>
        <p:spPr>
          <a:xfrm>
            <a:off x="838200" y="3427958"/>
            <a:ext cx="4000500" cy="247650"/>
          </a:xfrm>
          <a:prstGeom prst="rect">
            <a:avLst/>
          </a:prstGeom>
          <a:noFill/>
          <a:ln>
            <a:noFill/>
          </a:ln>
        </p:spPr>
        <p:txBody>
          <a:bodyPr anchorCtr="0" anchor="t" bIns="0" lIns="0" spcFirstLastPara="1" rIns="0" wrap="square" tIns="0">
            <a:spAutoFit/>
          </a:bodyPr>
          <a:lstStyle/>
          <a:p>
            <a:r>
              <a:rPr sz="1500" b="1" i="0">
                <a:solidFill>
                  <a:srgbClr val="0F172A"/>
                </a:solidFill>
                <a:latin typeface="Space Grotesk"/>
              </a:rPr>
              <a:t>Scale Model Capacity (Qwen2.5-3B)</a:t>
            </a:r>
          </a:p>
        </p:txBody>
      </p:sp>
      <p:sp>
        <p:nvSpPr>
          <p:cNvPr id="384" name="Google Shape;384;p29"/>
          <p:cNvSpPr txBox="1"/>
          <p:nvPr/>
        </p:nvSpPr>
        <p:spPr>
          <a:xfrm>
            <a:off x="838200" y="3751808"/>
            <a:ext cx="3143250" cy="462855"/>
          </a:xfrm>
          <a:prstGeom prst="rect">
            <a:avLst/>
          </a:prstGeom>
          <a:noFill/>
          <a:ln>
            <a:noFill/>
          </a:ln>
        </p:spPr>
        <p:txBody>
          <a:bodyPr anchorCtr="0" anchor="t" bIns="0" lIns="0" spcFirstLastPara="1" rIns="0" wrap="square" tIns="0">
            <a:spAutoFit/>
          </a:bodyPr>
          <a:lstStyle/>
          <a:p>
            <a:r>
              <a:rPr sz="1350" b="0" i="0">
                <a:solidFill>
                  <a:srgbClr val="475569"/>
                </a:solidFill>
                <a:latin typeface="Inter"/>
              </a:rPr>
              <a:t>Upgrade from 0.5B to 3B parameters to handle complex conditional clauses and transition dates.</a:t>
            </a:r>
          </a:p>
        </p:txBody>
      </p:sp>
      <p:sp>
        <p:nvSpPr>
          <p:cNvPr id="385" name="Google Shape;385;p29"/>
          <p:cNvSpPr txBox="1"/>
          <p:nvPr/>
        </p:nvSpPr>
        <p:spPr>
          <a:xfrm>
            <a:off x="4572000" y="3075533"/>
            <a:ext cx="381000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284C7"/>
                </a:solidFill>
                <a:latin typeface="Inter"/>
                <a:ea typeface="Inter"/>
                <a:cs typeface="Inter"/>
                <a:sym typeface="Inter"/>
              </a:rPr>
              <a:t>02</a:t>
            </a:r>
            <a:endParaRPr/>
          </a:p>
        </p:txBody>
      </p:sp>
      <p:sp>
        <p:nvSpPr>
          <p:cNvPr id="386" name="Google Shape;386;p29"/>
          <p:cNvSpPr txBox="1"/>
          <p:nvPr/>
        </p:nvSpPr>
        <p:spPr>
          <a:xfrm>
            <a:off x="4572000" y="3427958"/>
            <a:ext cx="4000500" cy="247650"/>
          </a:xfrm>
          <a:prstGeom prst="rect">
            <a:avLst/>
          </a:prstGeom>
          <a:noFill/>
          <a:ln>
            <a:noFill/>
          </a:ln>
        </p:spPr>
        <p:txBody>
          <a:bodyPr anchorCtr="0" anchor="t" bIns="0" lIns="0" spcFirstLastPara="1" rIns="0" wrap="square" tIns="0">
            <a:spAutoFit/>
          </a:bodyPr>
          <a:lstStyle/>
          <a:p>
            <a:r>
              <a:rPr sz="1500" b="1" i="0">
                <a:solidFill>
                  <a:srgbClr val="0F172A"/>
                </a:solidFill>
                <a:latin typeface="Space Grotesk"/>
              </a:rPr>
              <a:t>RAG-Aware SFT Training</a:t>
            </a:r>
          </a:p>
        </p:txBody>
      </p:sp>
      <p:sp>
        <p:nvSpPr>
          <p:cNvPr id="387" name="Google Shape;387;p29"/>
          <p:cNvSpPr txBox="1"/>
          <p:nvPr/>
        </p:nvSpPr>
        <p:spPr>
          <a:xfrm>
            <a:off x="4572000" y="3751808"/>
            <a:ext cx="3143250" cy="462855"/>
          </a:xfrm>
          <a:prstGeom prst="rect">
            <a:avLst/>
          </a:prstGeom>
          <a:noFill/>
          <a:ln>
            <a:noFill/>
          </a:ln>
        </p:spPr>
        <p:txBody>
          <a:bodyPr anchorCtr="0" anchor="t" bIns="0" lIns="0" spcFirstLastPara="1" rIns="0" wrap="square" tIns="0">
            <a:spAutoFit/>
          </a:bodyPr>
          <a:lstStyle/>
          <a:p>
            <a:r>
              <a:rPr sz="1350" b="0" i="0">
                <a:solidFill>
                  <a:srgbClr val="475569"/>
                </a:solidFill>
                <a:latin typeface="Inter"/>
              </a:rPr>
              <a:t>Train LoRA adapters directly on chunk-prefixed inputs to eliminate distribution shift.</a:t>
            </a:r>
          </a:p>
        </p:txBody>
      </p:sp>
      <p:sp>
        <p:nvSpPr>
          <p:cNvPr id="388" name="Google Shape;388;p29"/>
          <p:cNvSpPr txBox="1"/>
          <p:nvPr/>
        </p:nvSpPr>
        <p:spPr>
          <a:xfrm>
            <a:off x="8305800" y="3075533"/>
            <a:ext cx="381000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284C7"/>
                </a:solidFill>
                <a:latin typeface="Inter"/>
                <a:ea typeface="Inter"/>
                <a:cs typeface="Inter"/>
                <a:sym typeface="Inter"/>
              </a:rPr>
              <a:t>03</a:t>
            </a:r>
            <a:endParaRPr/>
          </a:p>
        </p:txBody>
      </p:sp>
      <p:sp>
        <p:nvSpPr>
          <p:cNvPr id="389" name="Google Shape;389;p29"/>
          <p:cNvSpPr txBox="1"/>
          <p:nvPr/>
        </p:nvSpPr>
        <p:spPr>
          <a:xfrm>
            <a:off x="8305800" y="3427958"/>
            <a:ext cx="3886200" cy="247650"/>
          </a:xfrm>
          <a:prstGeom prst="rect">
            <a:avLst/>
          </a:prstGeom>
          <a:noFill/>
          <a:ln>
            <a:noFill/>
          </a:ln>
        </p:spPr>
        <p:txBody>
          <a:bodyPr anchorCtr="0" anchor="t" bIns="0" lIns="0" spcFirstLastPara="1" rIns="0" wrap="square" tIns="0">
            <a:spAutoFit/>
          </a:bodyPr>
          <a:lstStyle/>
          <a:p>
            <a:r>
              <a:rPr sz="1500" b="1" i="0">
                <a:solidFill>
                  <a:srgbClr val="0F172A"/>
                </a:solidFill>
                <a:latin typeface="Space Grotesk"/>
              </a:rPr>
              <a:t>Enterprise Payroll API Integration</a:t>
            </a:r>
          </a:p>
        </p:txBody>
      </p:sp>
      <p:sp>
        <p:nvSpPr>
          <p:cNvPr id="390" name="Google Shape;390;p29"/>
          <p:cNvSpPr txBox="1"/>
          <p:nvPr/>
        </p:nvSpPr>
        <p:spPr>
          <a:xfrm>
            <a:off x="8305800" y="3751808"/>
            <a:ext cx="3143250" cy="462855"/>
          </a:xfrm>
          <a:prstGeom prst="rect">
            <a:avLst/>
          </a:prstGeom>
          <a:noFill/>
          <a:ln>
            <a:noFill/>
          </a:ln>
        </p:spPr>
        <p:txBody>
          <a:bodyPr anchorCtr="0" anchor="t" bIns="0" lIns="0" spcFirstLastPara="1" rIns="0" wrap="square" tIns="0">
            <a:spAutoFit/>
          </a:bodyPr>
          <a:lstStyle/>
          <a:p>
            <a:r>
              <a:rPr sz="1350" b="0" i="0">
                <a:solidFill>
                  <a:srgbClr val="475569"/>
                </a:solidFill>
                <a:latin typeface="Inter"/>
              </a:rPr>
              <a:t>Direct API connectors to Entertainment Partners (SmartTime) and Greenslate for batch timecard ingestion.</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394" name="Shape 394"/>
        <p:cNvGrpSpPr/>
        <p:nvPr/>
      </p:nvGrpSpPr>
      <p:grpSpPr>
        <a:xfrm>
          <a:off x="0" y="0"/>
          <a:ext cx="0" cy="0"/>
          <a:chOff x="0" y="0"/>
          <a:chExt cx="0" cy="0"/>
        </a:xfrm>
      </p:grpSpPr>
      <p:sp>
        <p:nvSpPr>
          <p:cNvPr id="395" name="Google Shape;395;p30"/>
          <p:cNvSpPr/>
          <p:nvPr/>
        </p:nvSpPr>
        <p:spPr>
          <a:xfrm>
            <a:off x="4814887" y="3927127"/>
            <a:ext cx="2562225" cy="381000"/>
          </a:xfrm>
          <a:prstGeom prst="roundRect">
            <a:avLst>
              <a:gd fmla="val 2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6" name="Google Shape;396;p30"/>
          <p:cNvSpPr txBox="1"/>
          <p:nvPr/>
        </p:nvSpPr>
        <p:spPr>
          <a:xfrm>
            <a:off x="3702099" y="1997422"/>
            <a:ext cx="4787800"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38BDF8"/>
                </a:solidFill>
                <a:latin typeface="Space Grotesk"/>
                <a:ea typeface="Space Grotesk"/>
                <a:cs typeface="Space Grotesk"/>
                <a:sym typeface="Space Grotesk"/>
              </a:rPr>
              <a:t>TRANSFORMING FILM PAYROLL COMPLIANCE</a:t>
            </a:r>
            <a:endParaRPr/>
          </a:p>
        </p:txBody>
      </p:sp>
      <p:sp>
        <p:nvSpPr>
          <p:cNvPr id="397" name="Google Shape;397;p30"/>
          <p:cNvSpPr txBox="1"/>
          <p:nvPr/>
        </p:nvSpPr>
        <p:spPr>
          <a:xfrm>
            <a:off x="1032867" y="2349847"/>
            <a:ext cx="10126265" cy="548580"/>
          </a:xfrm>
          <a:prstGeom prst="rect">
            <a:avLst/>
          </a:prstGeom>
          <a:noFill/>
          <a:ln>
            <a:noFill/>
          </a:ln>
        </p:spPr>
        <p:txBody>
          <a:bodyPr anchorCtr="0" anchor="t" bIns="0" lIns="0" spcFirstLastPara="1" rIns="0" wrap="square" tIns="0">
            <a:spAutoFit/>
          </a:bodyPr>
          <a:lstStyle/>
          <a:p>
            <a:r>
              <a:rPr sz="3600" b="1" i="0">
                <a:solidFill>
                  <a:srgbClr val="F8FAFC"/>
                </a:solidFill>
                <a:latin typeface="Space Grotesk"/>
              </a:rPr>
              <a:t>Thank You · Questions &amp; Live Demonstration</a:t>
            </a:r>
          </a:p>
        </p:txBody>
      </p:sp>
      <p:sp>
        <p:nvSpPr>
          <p:cNvPr id="398" name="Google Shape;398;p30"/>
          <p:cNvSpPr txBox="1"/>
          <p:nvPr/>
        </p:nvSpPr>
        <p:spPr>
          <a:xfrm>
            <a:off x="2286000" y="3088927"/>
            <a:ext cx="7620000" cy="533400"/>
          </a:xfrm>
          <a:prstGeom prst="rect">
            <a:avLst/>
          </a:prstGeom>
          <a:noFill/>
          <a:ln>
            <a:noFill/>
          </a:ln>
        </p:spPr>
        <p:txBody>
          <a:bodyPr anchorCtr="0" anchor="t" bIns="0" lIns="0" spcFirstLastPara="1" rIns="0" wrap="square" tIns="0">
            <a:spAutoFit/>
          </a:bodyPr>
          <a:lstStyle/>
          <a:p>
            <a:r>
              <a:rPr sz="1500" b="0" i="0">
                <a:solidFill>
                  <a:srgbClr val="94A3B8"/>
                </a:solidFill>
                <a:latin typeface="Inter"/>
              </a:rPr>
              <a:t>Autonomous compliance verification for BC film productions: eliminating union payroll liability at wrap.</a:t>
            </a:r>
          </a:p>
        </p:txBody>
      </p:sp>
      <p:sp>
        <p:nvSpPr>
          <p:cNvPr id="399" name="Google Shape;399;p30"/>
          <p:cNvSpPr txBox="1"/>
          <p:nvPr/>
        </p:nvSpPr>
        <p:spPr>
          <a:xfrm>
            <a:off x="4723209" y="4022377"/>
            <a:ext cx="2745581" cy="190500"/>
          </a:xfrm>
          <a:prstGeom prst="rect">
            <a:avLst/>
          </a:prstGeom>
          <a:noFill/>
          <a:ln>
            <a:noFill/>
          </a:ln>
        </p:spPr>
        <p:txBody>
          <a:bodyPr anchorCtr="0" anchor="t" bIns="0" lIns="0" spcFirstLastPara="1" rIns="0" wrap="square" tIns="0">
            <a:spAutoFit/>
          </a:bodyPr>
          <a:lstStyle/>
          <a:p>
            <a:r>
              <a:rPr sz="1200" b="1" i="0">
                <a:solidFill>
                  <a:srgbClr val="090D16"/>
                </a:solidFill>
                <a:latin typeface="Inter"/>
              </a:rPr>
              <a:t>Interactive CLI Demo &amp; Evaluation Harness Ready (GitHub: MarcosGerges)</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